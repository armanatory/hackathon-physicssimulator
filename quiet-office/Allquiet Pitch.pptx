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human point, not the software. Allquiet is a small app on top of Quanscient Allsolve: it tells an office where to put a handful of acoustic panels so the people who need quiet actually get it. The picture is the app's own 3D view of the demo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Noise is usually treated as a comfort problem. The WHO treats it as a disease burden: annoyance, disturbed sleep, heart disease. These figures are about environmental noise such as traffic, not offices, so say that plainly. The bridge is that the working day is where many people get their longest continuous exposure to other people's noise. The next slide is the office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findings, two experiments. Sander and colleagues at Bond University put volunteers in simulated open-plan noise for eight minutes: sweat response up 34 percent, negative mood up 25 percent. Evans and Johnson at Cornell gave 40 clerical workers three hours of low-level office noise: higher adrenaline, 40 percent fewer attempts at a hard puzzle, and half as many posture adjustments at the desk. Kim and de Dear's survey covers 303 buildings. These are short lab exposures; real people get this all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treatment exists: screens, dividers, panels. The decision is the weak spot. Facilities teams put the panels where they look sensible and hope. Our question is narrow on purpose: a fixed number of panels, and the position for each that helps the people who need quiet.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technical heart, kept short. Speech sits between 250 hertz and 2 kilohertz, so its wavelengths run from 17 centimetres to well over a metre: the same size as a screen, a desk, the gap to the wall. At that scale sound diffracts. Barrier formulas handle one screen in open space; ray tracing assumes the wavelength is tiny. A finite-element solve of the wave equation needs neither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acoustics knowledge needed to use it. Four steps: the room, the noise and the quiet zones, the number of panels, the answer. The screenshot is step two in the demo office: a coffee point on the left, focus desks and phone booths on the right. A phone scan can be opened under the plan and traced.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run from today, not a mock-up: the demo office, one coffee point at 60 dB, two quiet zones, three panels, the quick search. Allsolve solved 22 layouts at two speech bands in 33 seconds and the quiet zones dropped from 50 to about 37 dB in the model. Point at the gap between the rule of thumb and the wave solve: the formula badly underrates this layout, which is exactly why we do not trust it for the decision. Say the caveat out loud: this ranks layouts, it is not a measured reduction.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demo office is a drawing. This one is a real room: scanned with a phone, opened in the app, walls traced on top of the scan. Three panels, the detailed search, a little over three minutes on Allsolve. The quiet zones go from 55 to 45 dB in the model. The answer is practical: each panel is given as a distance from two walls.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guessing breaks down. Three sources, three quiet zones, four panels. The search tried 43 layouts. Be honest about the outcome: the zone in the middle gains 10 dB, the two in the corners gain 3. Four panels cannot fix everything in a loud room, and the app says so per zone, which is what a facilities manager needs before buying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Allsolve is not a detail. One simulation tells you how loud it is with the panels here. The user asks where here should be, and that is hundreds of solves on changing geometry. The SDK gives us geometry as variables, sweeps that run in parallel in the cloud, and results back in the same Python process that serves the web app. No solver to install, no workstation. Without scripted access to geometry, meshing, solving and results there is no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scanned office mid-search. The user pressed one button. Behind it the backend placed panel two of three, sent six layouts as 36 solves, and Allsolve is running them on 36 machines at once. The laptop only orchestrates. The link opens the project in Allsolve, and the app keeps a record of every request and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question from the jury. Each simpler tool is good at something, and each misses one of our two needs: real wave physics, and a solver you can drive from code hundreds of times. Allsolve with the SDK is the one option that does both. Its cost is latency, which is why the app shows a quick estimate first and replaces it with the simulation.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straight about the limits is part of the argument. The result compares layouts inside a model; it has not been calibrated against a measured room. Full 3D at high frequency is too large for finite elements, and that is fine, because screens are hardest to place at the low and middle bands. Every next step is a feature Allsolve already has, so it is an edit to our project builder, not a new toolchain.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people, not the solver. Offices already spend money on quiet; we make that money land where it protects the most people, and we can show the physics behind every position. Then offer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4F5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90" y="1127739"/>
            <a:ext cx="10566417" cy="502897"/>
          </a:xfrm>
          <a:prstGeom prst="rect">
            <a:avLst/>
          </a:prstGeom>
          <a:noFill/>
          <a:ln/>
        </p:spPr>
        <p:txBody>
          <a:bodyPr wrap="square" lIns="0" tIns="0" rIns="0" bIns="0" rtlCol="0" anchor="t"/>
          <a:lstStyle>
            <a:lvl1pPr algn="l" indent="0" marL="0">
              <a:lnSpc>
                <a:spcPct val="115000"/>
              </a:lnSpc>
              <a:buNone/>
              <a:defRPr lang="en-US" sz="3600" dirty="0">
                <a:solidFill>
                  <a:srgbClr val="1D1B2F"/>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90" y="1935436"/>
            <a:ext cx="10566410" cy="4109764"/>
          </a:xfrm>
          <a:prstGeom prst="rect">
            <a:avLst/>
          </a:prstGeom>
          <a:noFill/>
          <a:ln/>
        </p:spPr>
        <p:txBody>
          <a:bodyPr wrap="square" lIns="0" tIns="0" rIns="0" bIns="0" rtlCol="0" anchor="t"/>
          <a:lstStyle>
            <a:lvl1pPr algn="l" indent="0" marL="0">
              <a:lnSpc>
                <a:spcPct val="140000"/>
              </a:lnSpc>
              <a:buNone/>
              <a:defRPr lang="en-US" sz="1600" dirty="0">
                <a:solidFill>
                  <a:srgbClr val="1D1B2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4F5FA"/>
        </a:solidFill>
      </p:bgPr>
    </p:bg>
    <p:spTree>
      <p:nvGrpSpPr>
        <p:cNvPr id="1" name=""/>
        <p:cNvGrpSpPr/>
        <p:nvPr/>
      </p:nvGrpSpPr>
      <p:grpSpPr>
        <a:xfrm>
          <a:off x="0" y="0"/>
          <a:ext cx="0" cy="0"/>
          <a:chOff x="0" y="0"/>
          <a:chExt cx="0" cy="0"/>
        </a:xfrm>
      </p:grpSpPr>
      <p:sp>
        <p:nvSpPr>
          <p:cNvPr id="2" name="Title Placeholder 1"/>
          <p:cNvSpPr/>
          <p:nvPr>
            <p:ph type="title"/>
          </p:nvPr>
        </p:nvSpPr>
        <p:spPr>
          <a:xfrm>
            <a:off x="812790" y="1127739"/>
            <a:ext cx="10566417" cy="502897"/>
          </a:xfrm>
          <a:prstGeom prst="rect">
            <a:avLst/>
          </a:prstGeom>
          <a:noFill/>
          <a:ln/>
        </p:spPr>
        <p:txBody>
          <a:bodyPr wrap="square" lIns="0" tIns="0" rIns="0" bIns="0" rtlCol="0" anchor="t"/>
          <a:lstStyle>
            <a:lvl1pPr algn="l" indent="0" marL="0">
              <a:lnSpc>
                <a:spcPct val="115000"/>
              </a:lnSpc>
              <a:buNone/>
              <a:defRPr lang="en-US" sz="3600" dirty="0">
                <a:solidFill>
                  <a:srgbClr val="1D1B2F"/>
                </a:solidFill>
                <a:latin typeface="Inter" pitchFamily="34" charset="0"/>
                <a:ea typeface="Inter" pitchFamily="34" charset="-122"/>
                <a:cs typeface="Inter" pitchFamily="34" charset="-120"/>
              </a:defRPr>
            </a:lvl1pPr>
          </a:lstStyle>
          <a:p>
            <a:pPr algn="l" indent="0" marL="0">
              <a:lnSpc>
                <a:spcPct val="115000"/>
              </a:lnSpc>
              <a:buNone/>
            </a:pPr>
            <a:endParaRPr lang="en-US" sz="3600" dirty="0"/>
          </a:p>
        </p:txBody>
      </p:sp>
      <p:sp>
        <p:nvSpPr>
          <p:cNvPr id="3" name="Text Placeholder 2"/>
          <p:cNvSpPr/>
          <p:nvPr>
            <p:ph idx="101" type="body"/>
          </p:nvPr>
        </p:nvSpPr>
        <p:spPr>
          <a:xfrm>
            <a:off x="812790" y="1935436"/>
            <a:ext cx="10566410" cy="4109764"/>
          </a:xfrm>
          <a:prstGeom prst="rect">
            <a:avLst/>
          </a:prstGeom>
          <a:noFill/>
          <a:ln/>
        </p:spPr>
        <p:txBody>
          <a:bodyPr wrap="square" lIns="0" tIns="0" rIns="0" bIns="0" rtlCol="0" anchor="t"/>
          <a:lstStyle>
            <a:lvl1pPr algn="l" indent="0" marL="0">
              <a:lnSpc>
                <a:spcPct val="140000"/>
              </a:lnSpc>
              <a:buNone/>
              <a:defRPr lang="en-US" sz="1600" dirty="0">
                <a:solidFill>
                  <a:srgbClr val="1D1B2F"/>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5FA"/>
        </a:solidFill>
      </p:bgPr>
    </p:bg>
    <p:spTree>
      <p:nvGrpSpPr>
        <p:cNvPr id="1" name=""/>
        <p:cNvGrpSpPr/>
        <p:nvPr/>
      </p:nvGrpSpPr>
      <p:grpSpPr>
        <a:xfrm>
          <a:off x="0" y="0"/>
          <a:ext cx="0" cy="0"/>
          <a:chOff x="0" y="0"/>
          <a:chExt cx="0" cy="0"/>
        </a:xfrm>
      </p:grpSpPr>
      <p:pic>
        <p:nvPicPr>
          <p:cNvPr id="2" name="Image 0" descr="Allquiet logo">    </p:cNvPr>
          <p:cNvPicPr>
            <a:picLocks noChangeAspect="1"/>
          </p:cNvPicPr>
          <p:nvPr/>
        </p:nvPicPr>
        <p:blipFill>
          <a:blip r:embed="rId1"/>
          <a:srcRect l="0" r="0" t="0" b="0"/>
          <a:stretch/>
        </p:blipFill>
        <p:spPr>
          <a:xfrm>
            <a:off x="812790" y="1988816"/>
            <a:ext cx="406372" cy="406372"/>
          </a:xfrm>
          <a:prstGeom prst="rect">
            <a:avLst/>
          </a:prstGeom>
        </p:spPr>
      </p:pic>
      <p:sp>
        <p:nvSpPr>
          <p:cNvPr id="3" name="Text 0"/>
          <p:cNvSpPr/>
          <p:nvPr/>
        </p:nvSpPr>
        <p:spPr>
          <a:xfrm>
            <a:off x="1346162" y="2049764"/>
            <a:ext cx="3700745" cy="309874"/>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46880"/>
                </a:solidFill>
                <a:latin typeface="Inter" pitchFamily="34" charset="0"/>
                <a:ea typeface="Inter" pitchFamily="34" charset="-122"/>
                <a:cs typeface="Inter" pitchFamily="34" charset="-120"/>
              </a:rPr>
              <a:t>Powered by Quanscient Allsolve</a:t>
            </a:r>
            <a:endParaRPr lang="en-US" sz="1600" dirty="0"/>
          </a:p>
        </p:txBody>
      </p:sp>
      <p:sp>
        <p:nvSpPr>
          <p:cNvPr id="4" name="Text 1"/>
          <p:cNvSpPr/>
          <p:nvPr>
            <p:ph type="title"/>
          </p:nvPr>
        </p:nvSpPr>
        <p:spPr>
          <a:xfrm>
            <a:off x="812790" y="2649187"/>
            <a:ext cx="3132761" cy="825481"/>
          </a:xfrm>
          <a:prstGeom prst="rect">
            <a:avLst/>
          </a:prstGeom>
          <a:noFill/>
          <a:ln/>
        </p:spPr>
        <p:txBody>
          <a:bodyPr wrap="square" lIns="0" tIns="0" rIns="0" bIns="0" rtlCol="0" anchor="t">
            <a:normAutofit/>
          </a:bodyPr>
          <a:lstStyle/>
          <a:p>
            <a:pPr algn="l" indent="0" marL="0">
              <a:lnSpc>
                <a:spcPts val="6300"/>
              </a:lnSpc>
              <a:buNone/>
            </a:pPr>
            <a:r>
              <a:rPr lang="en-US" sz="6000" b="0" i="0" spc="-150" kern="0" dirty="0">
                <a:solidFill>
                  <a:srgbClr val="1D1B2F"/>
                </a:solidFill>
                <a:latin typeface="Inter" pitchFamily="34" charset="0"/>
                <a:ea typeface="Inter" pitchFamily="34" charset="-122"/>
                <a:cs typeface="Inter" pitchFamily="34" charset="-120"/>
              </a:rPr>
              <a:t>All</a:t>
            </a:r>
            <a:r>
              <a:rPr lang="en-US" sz="6000" b="1" i="0" spc="-150" kern="0" dirty="0">
                <a:solidFill>
                  <a:srgbClr val="1D1B2F"/>
                </a:solidFill>
                <a:latin typeface="Inter" pitchFamily="34" charset="0"/>
                <a:ea typeface="Inter" pitchFamily="34" charset="-122"/>
                <a:cs typeface="Inter" pitchFamily="34" charset="-120"/>
              </a:rPr>
              <a:t>quiet</a:t>
            </a:r>
            <a:endParaRPr lang="en-US" sz="6000" dirty="0"/>
          </a:p>
        </p:txBody>
      </p:sp>
      <p:sp>
        <p:nvSpPr>
          <p:cNvPr id="5" name="Text 2"/>
          <p:cNvSpPr/>
          <p:nvPr/>
        </p:nvSpPr>
        <p:spPr>
          <a:xfrm>
            <a:off x="812790" y="3703268"/>
            <a:ext cx="5284762" cy="723900"/>
          </a:xfrm>
          <a:prstGeom prst="rect">
            <a:avLst/>
          </a:prstGeom>
          <a:noFill/>
          <a:ln/>
        </p:spPr>
        <p:txBody>
          <a:bodyPr wrap="square" lIns="0" tIns="0" rIns="0" bIns="0" rtlCol="0" anchor="t">
            <a:normAutofit/>
          </a:bodyPr>
          <a:lstStyle/>
          <a:p>
            <a:pPr algn="l" indent="0" marL="0">
              <a:lnSpc>
                <a:spcPts val="2750"/>
              </a:lnSpc>
              <a:buNone/>
            </a:pPr>
            <a:r>
              <a:rPr lang="en-US" sz="2200" dirty="0">
                <a:solidFill>
                  <a:srgbClr val="1D1B2F"/>
                </a:solidFill>
                <a:latin typeface="Inter" pitchFamily="34" charset="0"/>
                <a:ea typeface="Inter" pitchFamily="34" charset="-122"/>
                <a:cs typeface="Inter" pitchFamily="34" charset="-120"/>
              </a:rPr>
              <a:t>A quieter workplace is a healthier one. Physics shows where the panels go.</a:t>
            </a:r>
            <a:endParaRPr lang="en-US" sz="2200" dirty="0"/>
          </a:p>
        </p:txBody>
      </p:sp>
      <p:sp>
        <p:nvSpPr>
          <p:cNvPr id="6" name="Text 3"/>
          <p:cNvSpPr/>
          <p:nvPr/>
        </p:nvSpPr>
        <p:spPr>
          <a:xfrm>
            <a:off x="812790" y="4655768"/>
            <a:ext cx="3964894" cy="2387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Veli Lampila · Santeri Hukari · Arman Borujerdi</a:t>
            </a:r>
            <a:endParaRPr lang="en-US" sz="1200" dirty="0"/>
          </a:p>
        </p:txBody>
      </p:sp>
      <p:sp>
        <p:nvSpPr>
          <p:cNvPr id="7" name="Shape 4"/>
          <p:cNvSpPr/>
          <p:nvPr/>
        </p:nvSpPr>
        <p:spPr>
          <a:xfrm>
            <a:off x="6553209" y="1612919"/>
            <a:ext cx="4825999" cy="3632162"/>
          </a:xfrm>
          <a:prstGeom prst="roundRect">
            <a:avLst>
              <a:gd name="adj" fmla="val 2797"/>
            </a:avLst>
          </a:prstGeom>
          <a:solidFill>
            <a:srgbClr val="FFFFFF"/>
          </a:solidFill>
          <a:ln/>
          <a:effectLst>
            <a:outerShdw sx="100000" sy="100000" kx="0" ky="0" algn="bl" rotWithShape="0" blurRad="406400" dist="152400" dir="5400000">
              <a:srgbClr val="1D1B2F">
                <a:alpha val="12000"/>
              </a:srgbClr>
            </a:outerShdw>
          </a:effectLst>
        </p:spPr>
      </p:sp>
      <p:pic>
        <p:nvPicPr>
          <p:cNvPr id="8" name="Image 1" descr="Allquiet 3D view of the demo office with three acoustic panels placed between the coffee point and two quiet zones">    </p:cNvPr>
          <p:cNvPicPr>
            <a:picLocks noChangeAspect="1"/>
          </p:cNvPicPr>
          <p:nvPr/>
        </p:nvPicPr>
        <p:blipFill>
          <a:blip r:embed="rId2"/>
          <a:srcRect l="0" r="0" t="-18" b="-18"/>
          <a:stretch/>
        </p:blipFill>
        <p:spPr>
          <a:xfrm>
            <a:off x="6559559" y="1619269"/>
            <a:ext cx="4813299" cy="3619462"/>
          </a:xfrm>
          <a:prstGeom prst="roundRect">
            <a:avLst>
              <a:gd name="adj" fmla="val 2632"/>
            </a:avLst>
          </a:prstGeom>
        </p:spPr>
      </p:pic>
      <p:sp>
        <p:nvSpPr>
          <p:cNvPr id="9" name="Shape 5"/>
          <p:cNvSpPr/>
          <p:nvPr/>
        </p:nvSpPr>
        <p:spPr>
          <a:xfrm>
            <a:off x="6556384" y="1616094"/>
            <a:ext cx="4819649" cy="3625812"/>
          </a:xfrm>
          <a:prstGeom prst="roundRect">
            <a:avLst>
              <a:gd name="adj" fmla="val 2715"/>
            </a:avLst>
          </a:prstGeom>
          <a:noFill/>
          <a:ln w="6350">
            <a:solidFill>
              <a:srgbClr val="DFE2EC"/>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D1B2F"/>
        </a:solidFill>
      </p:bgPr>
    </p:bg>
    <p:spTree>
      <p:nvGrpSpPr>
        <p:cNvPr id="1" name=""/>
        <p:cNvGrpSpPr/>
        <p:nvPr/>
      </p:nvGrpSpPr>
      <p:grpSpPr>
        <a:xfrm>
          <a:off x="0" y="0"/>
          <a:ext cx="0" cy="0"/>
          <a:chOff x="0" y="0"/>
          <a:chExt cx="0" cy="0"/>
        </a:xfrm>
      </p:grpSpPr>
      <p:sp>
        <p:nvSpPr>
          <p:cNvPr id="2" name="Text 0"/>
          <p:cNvSpPr/>
          <p:nvPr/>
        </p:nvSpPr>
        <p:spPr>
          <a:xfrm>
            <a:off x="812790" y="2105658"/>
            <a:ext cx="10883410" cy="23876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97F5"/>
                </a:solidFill>
                <a:latin typeface="Inter" pitchFamily="34" charset="0"/>
                <a:ea typeface="Inter" pitchFamily="34" charset="-122"/>
                <a:cs typeface="Inter" pitchFamily="34" charset="-120"/>
              </a:rPr>
              <a:t>NOISE IS A HEALTH ISSUE</a:t>
            </a:r>
            <a:endParaRPr lang="en-US" sz="1200" dirty="0"/>
          </a:p>
        </p:txBody>
      </p:sp>
      <p:sp>
        <p:nvSpPr>
          <p:cNvPr id="3" name="Text 1"/>
          <p:cNvSpPr/>
          <p:nvPr>
            <p:ph type="title"/>
          </p:nvPr>
        </p:nvSpPr>
        <p:spPr>
          <a:xfrm>
            <a:off x="812790" y="2623816"/>
            <a:ext cx="9810748" cy="1076930"/>
          </a:xfrm>
          <a:prstGeom prst="rect">
            <a:avLst/>
          </a:prstGeom>
          <a:noFill/>
          <a:ln/>
        </p:spPr>
        <p:txBody>
          <a:bodyPr wrap="square" lIns="0" tIns="0" rIns="0" bIns="0" rtlCol="0" anchor="t">
            <a:normAutofit/>
          </a:bodyPr>
          <a:lstStyle/>
          <a:p>
            <a:pPr algn="l" indent="0" marL="0">
              <a:lnSpc>
                <a:spcPts val="4140"/>
              </a:lnSpc>
              <a:buNone/>
            </a:pPr>
            <a:r>
              <a:rPr lang="en-US" sz="3600" b="0" i="0" spc="-50" kern="0" dirty="0">
                <a:solidFill>
                  <a:srgbClr val="F4F5FA"/>
                </a:solidFill>
                <a:latin typeface="Inter" pitchFamily="34" charset="0"/>
                <a:ea typeface="Inter" pitchFamily="34" charset="-122"/>
                <a:cs typeface="Inter" pitchFamily="34" charset="-120"/>
              </a:rPr>
              <a:t>Among environmental causes of ill health in Europe, noise is </a:t>
            </a:r>
            <a:r>
              <a:rPr lang="en-US" sz="3600" b="1" i="0" spc="-50" kern="0" dirty="0">
                <a:solidFill>
                  <a:srgbClr val="F4F5FA"/>
                </a:solidFill>
                <a:latin typeface="Inter" pitchFamily="34" charset="0"/>
                <a:ea typeface="Inter" pitchFamily="34" charset="-122"/>
                <a:cs typeface="Inter" pitchFamily="34" charset="-120"/>
              </a:rPr>
              <a:t>second only to air pollution</a:t>
            </a:r>
            <a:r>
              <a:rPr lang="en-US" sz="3600" b="0" i="0" spc="-50" kern="0" dirty="0">
                <a:solidFill>
                  <a:srgbClr val="F4F5FA"/>
                </a:solidFill>
                <a:latin typeface="Inter" pitchFamily="34" charset="0"/>
                <a:ea typeface="Inter" pitchFamily="34" charset="-122"/>
                <a:cs typeface="Inter" pitchFamily="34" charset="-120"/>
              </a:rPr>
              <a:t>.</a:t>
            </a:r>
            <a:endParaRPr lang="en-US" sz="3600" dirty="0"/>
          </a:p>
        </p:txBody>
      </p:sp>
      <p:sp>
        <p:nvSpPr>
          <p:cNvPr id="4" name="Text 2"/>
          <p:cNvSpPr/>
          <p:nvPr/>
        </p:nvSpPr>
        <p:spPr>
          <a:xfrm>
            <a:off x="812790" y="3980136"/>
            <a:ext cx="8502648" cy="594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CD3"/>
                </a:solidFill>
                <a:latin typeface="Inter" pitchFamily="34" charset="0"/>
                <a:ea typeface="Inter" pitchFamily="34" charset="-122"/>
                <a:cs typeface="Inter" pitchFamily="34" charset="-120"/>
              </a:rPr>
              <a:t>Traffic noise alone costs western Europe more than 1 million healthy life-years every year. Then we go to work and sit in a shared room for eight hours.</a:t>
            </a:r>
            <a:endParaRPr lang="en-US" sz="1600" dirty="0"/>
          </a:p>
        </p:txBody>
      </p:sp>
      <p:sp>
        <p:nvSpPr>
          <p:cNvPr id="5" name="Text 3"/>
          <p:cNvSpPr/>
          <p:nvPr/>
        </p:nvSpPr>
        <p:spPr>
          <a:xfrm>
            <a:off x="812790" y="6238260"/>
            <a:ext cx="10883361" cy="2387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CD3"/>
                </a:solidFill>
                <a:latin typeface="Inter" pitchFamily="34" charset="0"/>
                <a:ea typeface="Inter" pitchFamily="34" charset="-122"/>
                <a:cs typeface="Inter" pitchFamily="34" charset="-120"/>
              </a:rPr>
              <a:t>Source: WHO Regional Office for Europe, Burden of disease from environmental noise, 2011</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812790" y="812791"/>
            <a:ext cx="10883410" cy="23876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3FD3"/>
                </a:solidFill>
                <a:latin typeface="Inter" pitchFamily="34" charset="0"/>
                <a:ea typeface="Inter" pitchFamily="34" charset="-122"/>
                <a:cs typeface="Inter" pitchFamily="34" charset="-120"/>
              </a:rPr>
              <a:t>THE EVIDENCE</a:t>
            </a:r>
            <a:endParaRPr lang="en-US" sz="1200" dirty="0"/>
          </a:p>
        </p:txBody>
      </p:sp>
      <p:sp>
        <p:nvSpPr>
          <p:cNvPr id="3" name="Text 1"/>
          <p:cNvSpPr/>
          <p:nvPr>
            <p:ph type="title"/>
          </p:nvPr>
        </p:nvSpPr>
        <p:spPr>
          <a:xfrm>
            <a:off x="812790" y="1127739"/>
            <a:ext cx="10883410" cy="528297"/>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1D1B2F"/>
                </a:solidFill>
                <a:latin typeface="Inter" pitchFamily="34" charset="0"/>
                <a:ea typeface="Inter" pitchFamily="34" charset="-122"/>
                <a:cs typeface="Inter" pitchFamily="34" charset="-120"/>
              </a:rPr>
              <a:t>What office noise does to </a:t>
            </a:r>
            <a:r>
              <a:rPr lang="en-US" sz="3600" b="1" i="0" spc="-50" kern="0" dirty="0">
                <a:solidFill>
                  <a:srgbClr val="1D1B2F"/>
                </a:solidFill>
                <a:latin typeface="Inter" pitchFamily="34" charset="0"/>
                <a:ea typeface="Inter" pitchFamily="34" charset="-122"/>
                <a:cs typeface="Inter" pitchFamily="34" charset="-120"/>
              </a:rPr>
              <a:t>people</a:t>
            </a:r>
            <a:endParaRPr lang="en-US" sz="3600" dirty="0"/>
          </a:p>
        </p:txBody>
      </p:sp>
      <p:sp>
        <p:nvSpPr>
          <p:cNvPr id="4" name="Shape 2"/>
          <p:cNvSpPr/>
          <p:nvPr/>
        </p:nvSpPr>
        <p:spPr>
          <a:xfrm>
            <a:off x="815965" y="1938603"/>
            <a:ext cx="3380316" cy="2748907"/>
          </a:xfrm>
          <a:prstGeom prst="roundRect">
            <a:avLst>
              <a:gd name="adj" fmla="val 3581"/>
            </a:avLst>
          </a:prstGeom>
          <a:solidFill>
            <a:srgbClr val="FFFFFF"/>
          </a:solidFill>
          <a:ln w="6350">
            <a:solidFill>
              <a:srgbClr val="DFE2EC"/>
            </a:solidFill>
            <a:prstDash val="solid"/>
          </a:ln>
        </p:spPr>
      </p:sp>
      <p:sp>
        <p:nvSpPr>
          <p:cNvPr id="5" name="Text 3"/>
          <p:cNvSpPr/>
          <p:nvPr/>
        </p:nvSpPr>
        <p:spPr>
          <a:xfrm>
            <a:off x="1072838" y="2195475"/>
            <a:ext cx="2952568"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C13A5C"/>
                </a:solidFill>
                <a:latin typeface="Inter" pitchFamily="34" charset="0"/>
                <a:ea typeface="Inter" pitchFamily="34" charset="-122"/>
                <a:cs typeface="Inter" pitchFamily="34" charset="-120"/>
              </a:rPr>
              <a:t>+34%</a:t>
            </a:r>
            <a:endParaRPr lang="en-US" sz="6000" dirty="0"/>
          </a:p>
        </p:txBody>
      </p:sp>
      <p:sp>
        <p:nvSpPr>
          <p:cNvPr id="6" name="Text 4"/>
          <p:cNvSpPr/>
          <p:nvPr/>
        </p:nvSpPr>
        <p:spPr>
          <a:xfrm>
            <a:off x="1072838" y="3059055"/>
            <a:ext cx="2952568" cy="817874"/>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D1B2F"/>
                </a:solidFill>
                <a:latin typeface="Inter" pitchFamily="34" charset="0"/>
                <a:ea typeface="Inter" pitchFamily="34" charset="-122"/>
                <a:cs typeface="Inter" pitchFamily="34" charset="-120"/>
              </a:rPr>
              <a:t>sweat response, a physical sign of stress, after 8 minutes of open-plan noise</a:t>
            </a:r>
            <a:endParaRPr lang="en-US" sz="1600" dirty="0"/>
          </a:p>
        </p:txBody>
      </p:sp>
      <p:sp>
        <p:nvSpPr>
          <p:cNvPr id="7" name="Text 5"/>
          <p:cNvSpPr/>
          <p:nvPr/>
        </p:nvSpPr>
        <p:spPr>
          <a:xfrm>
            <a:off x="1072838" y="3953111"/>
            <a:ext cx="2952568" cy="2387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Sander et al., 2021</a:t>
            </a:r>
            <a:endParaRPr lang="en-US" sz="1200" dirty="0"/>
          </a:p>
        </p:txBody>
      </p:sp>
      <p:sp>
        <p:nvSpPr>
          <p:cNvPr id="8" name="Shape 6"/>
          <p:cNvSpPr/>
          <p:nvPr/>
        </p:nvSpPr>
        <p:spPr>
          <a:xfrm>
            <a:off x="4405793" y="1938603"/>
            <a:ext cx="3380363" cy="2748907"/>
          </a:xfrm>
          <a:prstGeom prst="roundRect">
            <a:avLst>
              <a:gd name="adj" fmla="val 3581"/>
            </a:avLst>
          </a:prstGeom>
          <a:solidFill>
            <a:srgbClr val="FFFFFF"/>
          </a:solidFill>
          <a:ln w="6350">
            <a:solidFill>
              <a:srgbClr val="DFE2EC"/>
            </a:solidFill>
            <a:prstDash val="solid"/>
          </a:ln>
        </p:spPr>
      </p:sp>
      <p:sp>
        <p:nvSpPr>
          <p:cNvPr id="9" name="Text 7"/>
          <p:cNvSpPr/>
          <p:nvPr/>
        </p:nvSpPr>
        <p:spPr>
          <a:xfrm>
            <a:off x="4662666" y="2195475"/>
            <a:ext cx="2952617"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C13A5C"/>
                </a:solidFill>
                <a:latin typeface="Inter" pitchFamily="34" charset="0"/>
                <a:ea typeface="Inter" pitchFamily="34" charset="-122"/>
                <a:cs typeface="Inter" pitchFamily="34" charset="-120"/>
              </a:rPr>
              <a:t>+25%</a:t>
            </a:r>
            <a:endParaRPr lang="en-US" sz="6000" dirty="0"/>
          </a:p>
        </p:txBody>
      </p:sp>
      <p:sp>
        <p:nvSpPr>
          <p:cNvPr id="10" name="Text 8"/>
          <p:cNvSpPr/>
          <p:nvPr/>
        </p:nvSpPr>
        <p:spPr>
          <a:xfrm>
            <a:off x="4662666" y="3059055"/>
            <a:ext cx="2952617" cy="553716"/>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D1B2F"/>
                </a:solidFill>
                <a:latin typeface="Inter" pitchFamily="34" charset="0"/>
                <a:ea typeface="Inter" pitchFamily="34" charset="-122"/>
                <a:cs typeface="Inter" pitchFamily="34" charset="-120"/>
              </a:rPr>
              <a:t>negative mood in the same experiment</a:t>
            </a:r>
            <a:endParaRPr lang="en-US" sz="1600" dirty="0"/>
          </a:p>
        </p:txBody>
      </p:sp>
      <p:sp>
        <p:nvSpPr>
          <p:cNvPr id="11" name="Text 9"/>
          <p:cNvSpPr/>
          <p:nvPr/>
        </p:nvSpPr>
        <p:spPr>
          <a:xfrm>
            <a:off x="4662666" y="3688953"/>
            <a:ext cx="2952617" cy="2387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Sander et al., 2021</a:t>
            </a:r>
            <a:endParaRPr lang="en-US" sz="1200" dirty="0"/>
          </a:p>
        </p:txBody>
      </p:sp>
      <p:sp>
        <p:nvSpPr>
          <p:cNvPr id="12" name="Shape 10"/>
          <p:cNvSpPr/>
          <p:nvPr/>
        </p:nvSpPr>
        <p:spPr>
          <a:xfrm>
            <a:off x="7995669" y="1938603"/>
            <a:ext cx="3380316" cy="2748907"/>
          </a:xfrm>
          <a:prstGeom prst="roundRect">
            <a:avLst>
              <a:gd name="adj" fmla="val 3581"/>
            </a:avLst>
          </a:prstGeom>
          <a:solidFill>
            <a:srgbClr val="FFFFFF"/>
          </a:solidFill>
          <a:ln w="6350">
            <a:solidFill>
              <a:srgbClr val="DFE2EC"/>
            </a:solidFill>
            <a:prstDash val="solid"/>
          </a:ln>
        </p:spPr>
      </p:sp>
      <p:sp>
        <p:nvSpPr>
          <p:cNvPr id="13" name="Text 11"/>
          <p:cNvSpPr/>
          <p:nvPr/>
        </p:nvSpPr>
        <p:spPr>
          <a:xfrm>
            <a:off x="8252542" y="2195475"/>
            <a:ext cx="2952568"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C13A5C"/>
                </a:solidFill>
                <a:latin typeface="Inter" pitchFamily="34" charset="0"/>
                <a:ea typeface="Inter" pitchFamily="34" charset="-122"/>
                <a:cs typeface="Inter" pitchFamily="34" charset="-120"/>
              </a:rPr>
              <a:t>−40%</a:t>
            </a:r>
            <a:endParaRPr lang="en-US" sz="6000" dirty="0"/>
          </a:p>
        </p:txBody>
      </p:sp>
      <p:sp>
        <p:nvSpPr>
          <p:cNvPr id="14" name="Text 12"/>
          <p:cNvSpPr/>
          <p:nvPr/>
        </p:nvSpPr>
        <p:spPr>
          <a:xfrm>
            <a:off x="8252542" y="3059055"/>
            <a:ext cx="2952568" cy="1082032"/>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D1B2F"/>
                </a:solidFill>
                <a:latin typeface="Inter" pitchFamily="34" charset="0"/>
                <a:ea typeface="Inter" pitchFamily="34" charset="-122"/>
                <a:cs typeface="Inter" pitchFamily="34" charset="-120"/>
              </a:rPr>
              <a:t>attempts at a hard puzzle after 3 hours of low-level office noise, with raised adrenaline</a:t>
            </a:r>
            <a:endParaRPr lang="en-US" sz="1600" dirty="0"/>
          </a:p>
        </p:txBody>
      </p:sp>
      <p:sp>
        <p:nvSpPr>
          <p:cNvPr id="15" name="Text 13"/>
          <p:cNvSpPr/>
          <p:nvPr/>
        </p:nvSpPr>
        <p:spPr>
          <a:xfrm>
            <a:off x="8252542" y="4217270"/>
            <a:ext cx="2952568" cy="2387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Evans &amp; Johnson, 2000</a:t>
            </a:r>
            <a:endParaRPr lang="en-US" sz="1200" dirty="0"/>
          </a:p>
        </p:txBody>
      </p:sp>
      <p:sp>
        <p:nvSpPr>
          <p:cNvPr id="16" name="Text 14"/>
          <p:cNvSpPr/>
          <p:nvPr/>
        </p:nvSpPr>
        <p:spPr>
          <a:xfrm>
            <a:off x="812790" y="4995475"/>
            <a:ext cx="9810748" cy="594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1D1B2F"/>
                </a:solidFill>
                <a:latin typeface="Inter" pitchFamily="34" charset="0"/>
                <a:ea typeface="Inter" pitchFamily="34" charset="-122"/>
                <a:cs typeface="Inter" pitchFamily="34" charset="-120"/>
              </a:rPr>
              <a:t>In a survey of more than 42,000 office workers, noise and lost sound privacy outweighed the benefit of easier interaction in open-plan offices.</a:t>
            </a:r>
            <a:endParaRPr lang="en-US" sz="1600" dirty="0"/>
          </a:p>
        </p:txBody>
      </p:sp>
      <p:sp>
        <p:nvSpPr>
          <p:cNvPr id="17" name="Text 15"/>
          <p:cNvSpPr/>
          <p:nvPr/>
        </p:nvSpPr>
        <p:spPr>
          <a:xfrm>
            <a:off x="812790" y="6238260"/>
            <a:ext cx="10883361" cy="2387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Sources: J. Management &amp; Organization 2021 · J. Applied Psychology 2000 · Kim &amp; de Dear, J. Environmental Psychology 2013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812790" y="1590050"/>
            <a:ext cx="10883410" cy="23876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3FD3"/>
                </a:solidFill>
                <a:latin typeface="Inter" pitchFamily="34" charset="0"/>
                <a:ea typeface="Inter" pitchFamily="34" charset="-122"/>
                <a:cs typeface="Inter" pitchFamily="34" charset="-120"/>
              </a:rPr>
              <a:t>THE GAP</a:t>
            </a:r>
            <a:endParaRPr lang="en-US" sz="1200" dirty="0"/>
          </a:p>
        </p:txBody>
      </p:sp>
      <p:sp>
        <p:nvSpPr>
          <p:cNvPr id="3" name="Text 1"/>
          <p:cNvSpPr/>
          <p:nvPr>
            <p:ph type="title"/>
          </p:nvPr>
        </p:nvSpPr>
        <p:spPr>
          <a:xfrm>
            <a:off x="812790" y="2108208"/>
            <a:ext cx="9810748" cy="1076930"/>
          </a:xfrm>
          <a:prstGeom prst="rect">
            <a:avLst/>
          </a:prstGeom>
          <a:noFill/>
          <a:ln/>
        </p:spPr>
        <p:txBody>
          <a:bodyPr wrap="square" lIns="0" tIns="0" rIns="0" bIns="0" rtlCol="0" anchor="t">
            <a:normAutofit/>
          </a:bodyPr>
          <a:lstStyle/>
          <a:p>
            <a:pPr algn="l" indent="0" marL="0">
              <a:lnSpc>
                <a:spcPts val="4140"/>
              </a:lnSpc>
              <a:buNone/>
            </a:pPr>
            <a:r>
              <a:rPr lang="en-US" sz="3600" b="0" i="0" spc="-50" kern="0" dirty="0">
                <a:solidFill>
                  <a:srgbClr val="1D1B2F"/>
                </a:solidFill>
                <a:latin typeface="Inter" pitchFamily="34" charset="0"/>
                <a:ea typeface="Inter" pitchFamily="34" charset="-122"/>
                <a:cs typeface="Inter" pitchFamily="34" charset="-120"/>
              </a:rPr>
              <a:t>Offices buy acoustic panels, then place them </a:t>
            </a:r>
            <a:r>
              <a:rPr lang="en-US" sz="3600" b="1" i="0" spc="-50" kern="0" dirty="0">
                <a:solidFill>
                  <a:srgbClr val="1D1B2F"/>
                </a:solidFill>
                <a:latin typeface="Inter" pitchFamily="34" charset="0"/>
                <a:ea typeface="Inter" pitchFamily="34" charset="-122"/>
                <a:cs typeface="Inter" pitchFamily="34" charset="-120"/>
              </a:rPr>
              <a:t>by eye</a:t>
            </a:r>
            <a:r>
              <a:rPr lang="en-US" sz="3600" b="0" i="0" spc="-50" kern="0" dirty="0">
                <a:solidFill>
                  <a:srgbClr val="1D1B2F"/>
                </a:solidFill>
                <a:latin typeface="Inter" pitchFamily="34" charset="0"/>
                <a:ea typeface="Inter" pitchFamily="34" charset="-122"/>
                <a:cs typeface="Inter" pitchFamily="34" charset="-120"/>
              </a:rPr>
              <a:t>.</a:t>
            </a:r>
            <a:endParaRPr lang="en-US" sz="3600" dirty="0"/>
          </a:p>
        </p:txBody>
      </p:sp>
      <p:sp>
        <p:nvSpPr>
          <p:cNvPr id="4" name="Text 2"/>
          <p:cNvSpPr/>
          <p:nvPr/>
        </p:nvSpPr>
        <p:spPr>
          <a:xfrm>
            <a:off x="812790" y="3464528"/>
            <a:ext cx="9156698" cy="75187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5B3FD3"/>
                </a:solidFill>
                <a:latin typeface="Inter" pitchFamily="34" charset="0"/>
                <a:ea typeface="Inter" pitchFamily="34" charset="-122"/>
                <a:cs typeface="Inter" pitchFamily="34" charset="-120"/>
              </a:rPr>
              <a:t>If you can afford only three panels, where do they protect the most people?</a:t>
            </a:r>
            <a:endParaRPr lang="en-US" sz="2200" dirty="0"/>
          </a:p>
        </p:txBody>
      </p:sp>
      <p:sp>
        <p:nvSpPr>
          <p:cNvPr id="5" name="Text 3"/>
          <p:cNvSpPr/>
          <p:nvPr/>
        </p:nvSpPr>
        <p:spPr>
          <a:xfrm>
            <a:off x="812790" y="4495789"/>
            <a:ext cx="8502648" cy="594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646880"/>
                </a:solidFill>
                <a:latin typeface="Inter" pitchFamily="34" charset="0"/>
                <a:ea typeface="Inter" pitchFamily="34" charset="-122"/>
                <a:cs typeface="Inter" pitchFamily="34" charset="-120"/>
              </a:rPr>
              <a:t>A rule of thumb gives a direction. Nobody gets a position, or a number for what the second and third panel are worth.</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812790" y="812791"/>
            <a:ext cx="10883410" cy="235271"/>
          </a:xfrm>
          <a:prstGeom prst="rect">
            <a:avLst/>
          </a:prstGeom>
          <a:noFill/>
          <a:ln/>
        </p:spPr>
        <p:txBody>
          <a:bodyPr wrap="square" lIns="0" tIns="0" rIns="0" bIns="0" rtlCol="0" anchor="t">
            <a:normAutofit/>
          </a:bodyPr>
          <a:lstStyle/>
          <a:p>
            <a:pPr algn="l" indent="0" marL="0">
              <a:lnSpc>
                <a:spcPts val="1675"/>
              </a:lnSpc>
              <a:buNone/>
            </a:pPr>
            <a:r>
              <a:rPr lang="en-US" sz="1196" b="1" spc="100" kern="0" dirty="0">
                <a:solidFill>
                  <a:srgbClr val="5B3FD3"/>
                </a:solidFill>
                <a:latin typeface="Inter" pitchFamily="34" charset="0"/>
                <a:ea typeface="Inter" pitchFamily="34" charset="-122"/>
                <a:cs typeface="Inter" pitchFamily="34" charset="-120"/>
              </a:rPr>
              <a:t>WHY IT IS HARD</a:t>
            </a:r>
            <a:endParaRPr lang="en-US" sz="1196" dirty="0"/>
          </a:p>
        </p:txBody>
      </p:sp>
      <p:sp>
        <p:nvSpPr>
          <p:cNvPr id="3" name="Text 1"/>
          <p:cNvSpPr/>
          <p:nvPr>
            <p:ph type="title"/>
          </p:nvPr>
        </p:nvSpPr>
        <p:spPr>
          <a:xfrm>
            <a:off x="812790" y="1124245"/>
            <a:ext cx="10883410" cy="520076"/>
          </a:xfrm>
          <a:prstGeom prst="rect">
            <a:avLst/>
          </a:prstGeom>
          <a:noFill/>
          <a:ln/>
        </p:spPr>
        <p:txBody>
          <a:bodyPr wrap="square" lIns="0" tIns="0" rIns="0" bIns="0" rtlCol="0" anchor="t">
            <a:normAutofit/>
          </a:bodyPr>
          <a:lstStyle/>
          <a:p>
            <a:pPr algn="l" indent="0" marL="0">
              <a:lnSpc>
                <a:spcPts val="3923"/>
              </a:lnSpc>
              <a:buNone/>
            </a:pPr>
            <a:r>
              <a:rPr lang="en-US" sz="3566" b="0" i="0" spc="-50" kern="0" dirty="0">
                <a:solidFill>
                  <a:srgbClr val="1D1B2F"/>
                </a:solidFill>
                <a:latin typeface="Inter" pitchFamily="34" charset="0"/>
                <a:ea typeface="Inter" pitchFamily="34" charset="-122"/>
                <a:cs typeface="Inter" pitchFamily="34" charset="-120"/>
              </a:rPr>
              <a:t>Speech is as big as the </a:t>
            </a:r>
            <a:r>
              <a:rPr lang="en-US" sz="3566" b="1" i="0" spc="-50" kern="0" dirty="0">
                <a:solidFill>
                  <a:srgbClr val="1D1B2F"/>
                </a:solidFill>
                <a:latin typeface="Inter" pitchFamily="34" charset="0"/>
                <a:ea typeface="Inter" pitchFamily="34" charset="-122"/>
                <a:cs typeface="Inter" pitchFamily="34" charset="-120"/>
              </a:rPr>
              <a:t>furniture</a:t>
            </a:r>
            <a:endParaRPr lang="en-US" sz="3566" dirty="0"/>
          </a:p>
        </p:txBody>
      </p:sp>
      <p:sp>
        <p:nvSpPr>
          <p:cNvPr id="4" name="Shape 2"/>
          <p:cNvSpPr/>
          <p:nvPr/>
        </p:nvSpPr>
        <p:spPr>
          <a:xfrm>
            <a:off x="815965" y="1926887"/>
            <a:ext cx="5175278" cy="3046327"/>
          </a:xfrm>
          <a:prstGeom prst="roundRect">
            <a:avLst>
              <a:gd name="adj" fmla="val 3231"/>
            </a:avLst>
          </a:prstGeom>
          <a:solidFill>
            <a:srgbClr val="FFFFFF"/>
          </a:solidFill>
          <a:ln w="6350">
            <a:solidFill>
              <a:srgbClr val="DFE2EC"/>
            </a:solidFill>
            <a:prstDash val="solid"/>
          </a:ln>
        </p:spPr>
      </p:sp>
      <p:sp>
        <p:nvSpPr>
          <p:cNvPr id="5" name="Text 3"/>
          <p:cNvSpPr/>
          <p:nvPr/>
        </p:nvSpPr>
        <p:spPr>
          <a:xfrm>
            <a:off x="1072838" y="2183758"/>
            <a:ext cx="4801378" cy="264801"/>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1B2F"/>
                </a:solidFill>
                <a:latin typeface="Inter" pitchFamily="34" charset="0"/>
                <a:ea typeface="Inter" pitchFamily="34" charset="-122"/>
                <a:cs typeface="Inter" pitchFamily="34" charset="-120"/>
              </a:rPr>
              <a:t>Speech in air</a:t>
            </a:r>
            <a:endParaRPr lang="en-US" sz="1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84933" y="2562253"/>
          <a:ext cx="4649437" cy="2154086"/>
        </p:xfrm>
        <a:graphic>
          <a:graphicData uri="http://schemas.openxmlformats.org/drawingml/2006/table">
            <a:tbl>
              <a:tblPr/>
              <a:tblGrid>
                <a:gridCol w="2324718"/>
                <a:gridCol w="2324718"/>
              </a:tblGrid>
              <a:tr h="430798">
                <a:tc>
                  <a:txBody>
                    <a:bodyPr/>
                    <a:lstStyle/>
                    <a:p>
                      <a:pPr indent="0" marL="0">
                        <a:lnSpc>
                          <a:spcPts val="2198"/>
                        </a:lnSpc>
                        <a:buNone/>
                      </a:pPr>
                      <a:r>
                        <a:rPr lang="en-US" sz="1570" b="1" dirty="0">
                          <a:solidFill>
                            <a:srgbClr val="646880"/>
                          </a:solidFill>
                          <a:latin typeface="Inter" pitchFamily="34" charset="0"/>
                          <a:ea typeface="Inter" pitchFamily="34" charset="-122"/>
                          <a:cs typeface="Inter" pitchFamily="34" charset="-120"/>
                        </a:rPr>
                        <a:t>Frequency</a:t>
                      </a:r>
                      <a:endParaRPr lang="en-US" sz="1570" dirty="0">
                        <a:latin typeface="Inter" charset="0"/>
                        <a:ea typeface="Inter" charset="0"/>
                        <a:cs typeface="Inter" charset="0"/>
                      </a:endParaRPr>
                    </a:p>
                  </a:txBody>
                  <a:tcPr marL="69787" marR="69787" marT="69787" marB="69787"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198"/>
                        </a:lnSpc>
                        <a:buNone/>
                      </a:pPr>
                      <a:r>
                        <a:rPr lang="en-US" sz="1570" b="1" dirty="0">
                          <a:solidFill>
                            <a:srgbClr val="646880"/>
                          </a:solidFill>
                          <a:latin typeface="Inter" pitchFamily="34" charset="0"/>
                          <a:ea typeface="Inter" pitchFamily="34" charset="-122"/>
                          <a:cs typeface="Inter" pitchFamily="34" charset="-120"/>
                        </a:rPr>
                        <a:t>Wavelength</a:t>
                      </a:r>
                      <a:endParaRPr lang="en-US" sz="1570" dirty="0">
                        <a:latin typeface="Inter" charset="0"/>
                        <a:ea typeface="Inter" charset="0"/>
                        <a:cs typeface="Inter" charset="0"/>
                      </a:endParaRPr>
                    </a:p>
                  </a:txBody>
                  <a:tcPr marL="69787" marR="69787" marT="69787" marB="69787"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30798">
                <a:tc>
                  <a:txBody>
                    <a:bodyPr/>
                    <a:lstStyle/>
                    <a:p>
                      <a:pPr indent="0" marL="0">
                        <a:lnSpc>
                          <a:spcPts val="2198"/>
                        </a:lnSpc>
                        <a:buNone/>
                      </a:pPr>
                      <a:r>
                        <a:rPr lang="en-US" sz="1570" dirty="0">
                          <a:solidFill>
                            <a:srgbClr val="1D1B2F"/>
                          </a:solidFill>
                          <a:latin typeface="Inter" pitchFamily="34" charset="0"/>
                          <a:ea typeface="Inter" pitchFamily="34" charset="-122"/>
                          <a:cs typeface="Inter" pitchFamily="34" charset="-120"/>
                        </a:rPr>
                        <a:t>250 Hz</a:t>
                      </a:r>
                      <a:endParaRPr lang="en-US" sz="1570" dirty="0">
                        <a:latin typeface="Inter" charset="0"/>
                        <a:ea typeface="Inter" charset="0"/>
                        <a:cs typeface="Inter" charset="0"/>
                      </a:endParaRPr>
                    </a:p>
                  </a:txBody>
                  <a:tcPr marL="69787" marR="69787" marT="69787" marB="6978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198"/>
                        </a:lnSpc>
                        <a:buNone/>
                      </a:pPr>
                      <a:r>
                        <a:rPr lang="en-US" sz="1570" dirty="0">
                          <a:solidFill>
                            <a:srgbClr val="1D1B2F"/>
                          </a:solidFill>
                          <a:latin typeface="Inter" pitchFamily="34" charset="0"/>
                          <a:ea typeface="Inter" pitchFamily="34" charset="-122"/>
                          <a:cs typeface="Inter" pitchFamily="34" charset="-120"/>
                        </a:rPr>
                        <a:t>1.37 m</a:t>
                      </a:r>
                      <a:endParaRPr lang="en-US" sz="1570" dirty="0">
                        <a:latin typeface="Inter" charset="0"/>
                        <a:ea typeface="Inter" charset="0"/>
                        <a:cs typeface="Inter" charset="0"/>
                      </a:endParaRPr>
                    </a:p>
                  </a:txBody>
                  <a:tcPr marL="69787" marR="69787" marT="69787" marB="6978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0798">
                <a:tc>
                  <a:txBody>
                    <a:bodyPr/>
                    <a:lstStyle/>
                    <a:p>
                      <a:pPr indent="0" marL="0">
                        <a:lnSpc>
                          <a:spcPts val="2198"/>
                        </a:lnSpc>
                        <a:buNone/>
                      </a:pPr>
                      <a:r>
                        <a:rPr lang="en-US" sz="1570" dirty="0">
                          <a:solidFill>
                            <a:srgbClr val="1D1B2F"/>
                          </a:solidFill>
                          <a:latin typeface="Inter" pitchFamily="34" charset="0"/>
                          <a:ea typeface="Inter" pitchFamily="34" charset="-122"/>
                          <a:cs typeface="Inter" pitchFamily="34" charset="-120"/>
                        </a:rPr>
                        <a:t>500 Hz</a:t>
                      </a:r>
                      <a:endParaRPr lang="en-US" sz="1570" dirty="0">
                        <a:latin typeface="Inter" charset="0"/>
                        <a:ea typeface="Inter" charset="0"/>
                        <a:cs typeface="Inter" charset="0"/>
                      </a:endParaRPr>
                    </a:p>
                  </a:txBody>
                  <a:tcPr marL="69787" marR="69787" marT="69787" marB="6978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198"/>
                        </a:lnSpc>
                        <a:buNone/>
                      </a:pPr>
                      <a:r>
                        <a:rPr lang="en-US" sz="1570" dirty="0">
                          <a:solidFill>
                            <a:srgbClr val="1D1B2F"/>
                          </a:solidFill>
                          <a:latin typeface="Inter" pitchFamily="34" charset="0"/>
                          <a:ea typeface="Inter" pitchFamily="34" charset="-122"/>
                          <a:cs typeface="Inter" pitchFamily="34" charset="-120"/>
                        </a:rPr>
                        <a:t>0.69 m</a:t>
                      </a:r>
                      <a:endParaRPr lang="en-US" sz="1570" dirty="0">
                        <a:latin typeface="Inter" charset="0"/>
                        <a:ea typeface="Inter" charset="0"/>
                        <a:cs typeface="Inter" charset="0"/>
                      </a:endParaRPr>
                    </a:p>
                  </a:txBody>
                  <a:tcPr marL="69787" marR="69787" marT="69787" marB="6978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0846">
                <a:tc>
                  <a:txBody>
                    <a:bodyPr/>
                    <a:lstStyle/>
                    <a:p>
                      <a:pPr indent="0" marL="0">
                        <a:lnSpc>
                          <a:spcPts val="2198"/>
                        </a:lnSpc>
                        <a:buNone/>
                      </a:pPr>
                      <a:r>
                        <a:rPr lang="en-US" sz="1570" dirty="0">
                          <a:solidFill>
                            <a:srgbClr val="1D1B2F"/>
                          </a:solidFill>
                          <a:latin typeface="Inter" pitchFamily="34" charset="0"/>
                          <a:ea typeface="Inter" pitchFamily="34" charset="-122"/>
                          <a:cs typeface="Inter" pitchFamily="34" charset="-120"/>
                        </a:rPr>
                        <a:t>1 kHz</a:t>
                      </a:r>
                      <a:endParaRPr lang="en-US" sz="1570" dirty="0">
                        <a:latin typeface="Inter" charset="0"/>
                        <a:ea typeface="Inter" charset="0"/>
                        <a:cs typeface="Inter" charset="0"/>
                      </a:endParaRPr>
                    </a:p>
                  </a:txBody>
                  <a:tcPr marL="69787" marR="69787" marT="69787" marB="6978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198"/>
                        </a:lnSpc>
                        <a:buNone/>
                      </a:pPr>
                      <a:r>
                        <a:rPr lang="en-US" sz="1570" dirty="0">
                          <a:solidFill>
                            <a:srgbClr val="1D1B2F"/>
                          </a:solidFill>
                          <a:latin typeface="Inter" pitchFamily="34" charset="0"/>
                          <a:ea typeface="Inter" pitchFamily="34" charset="-122"/>
                          <a:cs typeface="Inter" pitchFamily="34" charset="-120"/>
                        </a:rPr>
                        <a:t>0.34 m</a:t>
                      </a:r>
                      <a:endParaRPr lang="en-US" sz="1570" dirty="0">
                        <a:latin typeface="Inter" charset="0"/>
                        <a:ea typeface="Inter" charset="0"/>
                        <a:cs typeface="Inter" charset="0"/>
                      </a:endParaRPr>
                    </a:p>
                  </a:txBody>
                  <a:tcPr marL="69787" marR="69787" marT="69787" marB="6978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0846">
                <a:tc>
                  <a:txBody>
                    <a:bodyPr/>
                    <a:lstStyle/>
                    <a:p>
                      <a:pPr indent="0" marL="0">
                        <a:lnSpc>
                          <a:spcPts val="2198"/>
                        </a:lnSpc>
                        <a:buNone/>
                      </a:pPr>
                      <a:r>
                        <a:rPr lang="en-US" sz="1570" dirty="0">
                          <a:solidFill>
                            <a:srgbClr val="1D1B2F"/>
                          </a:solidFill>
                          <a:latin typeface="Inter" pitchFamily="34" charset="0"/>
                          <a:ea typeface="Inter" pitchFamily="34" charset="-122"/>
                          <a:cs typeface="Inter" pitchFamily="34" charset="-120"/>
                        </a:rPr>
                        <a:t>2 kHz</a:t>
                      </a:r>
                      <a:endParaRPr lang="en-US" sz="1570" dirty="0">
                        <a:latin typeface="Inter" charset="0"/>
                        <a:ea typeface="Inter" charset="0"/>
                        <a:cs typeface="Inter" charset="0"/>
                      </a:endParaRPr>
                    </a:p>
                  </a:txBody>
                  <a:tcPr marL="69787" marR="69787" marT="69787" marB="6978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198"/>
                        </a:lnSpc>
                        <a:buNone/>
                      </a:pPr>
                      <a:r>
                        <a:rPr lang="en-US" sz="1570" dirty="0">
                          <a:solidFill>
                            <a:srgbClr val="1D1B2F"/>
                          </a:solidFill>
                          <a:latin typeface="Inter" pitchFamily="34" charset="0"/>
                          <a:ea typeface="Inter" pitchFamily="34" charset="-122"/>
                          <a:cs typeface="Inter" pitchFamily="34" charset="-120"/>
                        </a:rPr>
                        <a:t>0.17 m</a:t>
                      </a:r>
                      <a:endParaRPr lang="en-US" sz="1570" dirty="0">
                        <a:latin typeface="Inter" charset="0"/>
                        <a:ea typeface="Inter" charset="0"/>
                        <a:cs typeface="Inter" charset="0"/>
                      </a:endParaRPr>
                    </a:p>
                  </a:txBody>
                  <a:tcPr marL="69787" marR="69787" marT="69787" marB="6978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7" name="Shape 4"/>
          <p:cNvSpPr/>
          <p:nvPr/>
        </p:nvSpPr>
        <p:spPr>
          <a:xfrm>
            <a:off x="6200755" y="1926887"/>
            <a:ext cx="5175278" cy="3046327"/>
          </a:xfrm>
          <a:prstGeom prst="roundRect">
            <a:avLst>
              <a:gd name="adj" fmla="val 3231"/>
            </a:avLst>
          </a:prstGeom>
          <a:solidFill>
            <a:srgbClr val="FFFFFF"/>
          </a:solidFill>
          <a:ln w="6350">
            <a:solidFill>
              <a:srgbClr val="DFE2EC"/>
            </a:solidFill>
            <a:prstDash val="solid"/>
          </a:ln>
        </p:spPr>
      </p:sp>
      <p:sp>
        <p:nvSpPr>
          <p:cNvPr id="8" name="Text 5"/>
          <p:cNvSpPr/>
          <p:nvPr/>
        </p:nvSpPr>
        <p:spPr>
          <a:xfrm>
            <a:off x="6457628" y="2183758"/>
            <a:ext cx="4801378" cy="26924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1B2F"/>
                </a:solidFill>
                <a:latin typeface="Inter" pitchFamily="34" charset="0"/>
                <a:ea typeface="Inter" pitchFamily="34" charset="-122"/>
                <a:cs typeface="Inter" pitchFamily="34" charset="-120"/>
              </a:rPr>
              <a:t>Things in an office</a:t>
            </a:r>
            <a:endParaRPr lang="en-US" sz="1600" dirty="0"/>
          </a:p>
        </p:txBody>
      </p:sp>
      <p:graphicFrame>
        <p:nvGraphicFramePr>
          <p:cNvPr id="9" name="Table 1"/>
          <p:cNvGraphicFramePr>
            <a:graphicFrameLocks noGrp="1"/>
          </p:cNvGraphicFramePr>
          <p:nvPr>
            <p:extLst>
              <p:ext uri="{D42A27DB-BD31-4B8C-83A1-F6EECF244321}">
                <p14:modId xmlns:p14="http://schemas.microsoft.com/office/powerpoint/2010/main" val="1579011935"/>
              </p:ext>
            </p:extLst>
          </p:nvPr>
        </p:nvGraphicFramePr>
        <p:xfrm>
          <a:off x="6469723" y="2566696"/>
          <a:ext cx="4649437" cy="1755132"/>
        </p:xfrm>
        <a:graphic>
          <a:graphicData uri="http://schemas.openxmlformats.org/drawingml/2006/table">
            <a:tbl>
              <a:tblPr/>
              <a:tblGrid>
                <a:gridCol w="2789662"/>
                <a:gridCol w="1859775"/>
              </a:tblGrid>
              <a:tr h="438783">
                <a:tc>
                  <a:txBody>
                    <a:bodyPr/>
                    <a:lstStyle/>
                    <a:p>
                      <a:pPr indent="0" marL="0">
                        <a:lnSpc>
                          <a:spcPts val="2240"/>
                        </a:lnSpc>
                        <a:buNone/>
                      </a:pPr>
                      <a:r>
                        <a:rPr lang="en-US" sz="1600" b="1" dirty="0">
                          <a:solidFill>
                            <a:srgbClr val="646880"/>
                          </a:solidFill>
                          <a:latin typeface="Inter" pitchFamily="34" charset="0"/>
                          <a:ea typeface="Inter" pitchFamily="34" charset="-122"/>
                          <a:cs typeface="Inter" pitchFamily="34" charset="-120"/>
                        </a:rPr>
                        <a:t>Object</a:t>
                      </a:r>
                      <a:endParaRPr lang="en-US" sz="1600" dirty="0">
                        <a:latin typeface="Inter" charset="0"/>
                        <a:ea typeface="Inter" charset="0"/>
                        <a:cs typeface="Int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c>
                  <a:txBody>
                    <a:bodyPr/>
                    <a:lstStyle/>
                    <a:p>
                      <a:pPr algn="r" indent="0" marL="0">
                        <a:lnSpc>
                          <a:spcPts val="2240"/>
                        </a:lnSpc>
                        <a:buNone/>
                      </a:pPr>
                      <a:r>
                        <a:rPr lang="en-US" sz="1600" b="1" dirty="0">
                          <a:solidFill>
                            <a:srgbClr val="646880"/>
                          </a:solidFill>
                          <a:latin typeface="Inter" pitchFamily="34" charset="0"/>
                          <a:ea typeface="Inter" pitchFamily="34" charset="-122"/>
                          <a:cs typeface="Inter" pitchFamily="34" charset="-120"/>
                        </a:rPr>
                        <a:t>Size</a:t>
                      </a:r>
                      <a:endParaRPr lang="en-US" sz="1600" dirty="0">
                        <a:latin typeface="Inter" charset="0"/>
                        <a:ea typeface="Inter" charset="0"/>
                        <a:cs typeface="Inter" charset="0"/>
                      </a:endParaRPr>
                    </a:p>
                  </a:txBody>
                  <a:tcPr marL="71120" marR="71120" marT="71120" marB="7112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CBC"/>
                      </a:solidFill>
                      <a:prstDash val="solid"/>
                      <a:round/>
                      <a:headEnd type="none" w="med" len="med"/>
                      <a:tailEnd type="none" w="med" len="med"/>
                    </a:lnB>
                    <a:solidFill>
                      <a:srgbClr val="ECECEC"/>
                    </a:solidFill>
                  </a:tcPr>
                </a:tc>
              </a:tr>
              <a:tr h="438783">
                <a:tc>
                  <a:txBody>
                    <a:bodyPr/>
                    <a:lstStyle/>
                    <a:p>
                      <a:pPr indent="0" marL="0">
                        <a:lnSpc>
                          <a:spcPts val="2240"/>
                        </a:lnSpc>
                        <a:buNone/>
                      </a:pPr>
                      <a:r>
                        <a:rPr lang="en-US" sz="1600" dirty="0">
                          <a:solidFill>
                            <a:srgbClr val="1D1B2F"/>
                          </a:solidFill>
                          <a:latin typeface="Inter" pitchFamily="34" charset="0"/>
                          <a:ea typeface="Inter" pitchFamily="34" charset="-122"/>
                          <a:cs typeface="Inter" pitchFamily="34" charset="-120"/>
                        </a:rPr>
                        <a:t>Acoustic screen</a:t>
                      </a:r>
                      <a:endParaRPr lang="en-US" sz="1600" dirty="0">
                        <a:latin typeface="Inter" charset="0"/>
                        <a:ea typeface="Inter" charset="0"/>
                        <a:cs typeface="Int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D1B2F"/>
                          </a:solidFill>
                          <a:latin typeface="Inter" pitchFamily="34" charset="0"/>
                          <a:ea typeface="Inter" pitchFamily="34" charset="-122"/>
                          <a:cs typeface="Inter" pitchFamily="34" charset="-120"/>
                        </a:rPr>
                        <a:t>1.2–2.6 m</a:t>
                      </a:r>
                      <a:endParaRPr lang="en-US" sz="1600" dirty="0">
                        <a:latin typeface="Inter" charset="0"/>
                        <a:ea typeface="Inter" charset="0"/>
                        <a:cs typeface="Int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8783">
                <a:tc>
                  <a:txBody>
                    <a:bodyPr/>
                    <a:lstStyle/>
                    <a:p>
                      <a:pPr indent="0" marL="0">
                        <a:lnSpc>
                          <a:spcPts val="2240"/>
                        </a:lnSpc>
                        <a:buNone/>
                      </a:pPr>
                      <a:r>
                        <a:rPr lang="en-US" sz="1600" dirty="0">
                          <a:solidFill>
                            <a:srgbClr val="1D1B2F"/>
                          </a:solidFill>
                          <a:latin typeface="Inter" pitchFamily="34" charset="0"/>
                          <a:ea typeface="Inter" pitchFamily="34" charset="-122"/>
                          <a:cs typeface="Inter" pitchFamily="34" charset="-120"/>
                        </a:rPr>
                        <a:t>Desk</a:t>
                      </a:r>
                      <a:endParaRPr lang="en-US" sz="1600" dirty="0">
                        <a:latin typeface="Inter" charset="0"/>
                        <a:ea typeface="Inter" charset="0"/>
                        <a:cs typeface="Int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D1B2F"/>
                          </a:solidFill>
                          <a:latin typeface="Inter" pitchFamily="34" charset="0"/>
                          <a:ea typeface="Inter" pitchFamily="34" charset="-122"/>
                          <a:cs typeface="Inter" pitchFamily="34" charset="-120"/>
                        </a:rPr>
                        <a:t>1.6 m</a:t>
                      </a:r>
                      <a:endParaRPr lang="en-US" sz="1600" dirty="0">
                        <a:latin typeface="Inter" charset="0"/>
                        <a:ea typeface="Inter" charset="0"/>
                        <a:cs typeface="Int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38783">
                <a:tc>
                  <a:txBody>
                    <a:bodyPr/>
                    <a:lstStyle/>
                    <a:p>
                      <a:pPr indent="0" marL="0">
                        <a:lnSpc>
                          <a:spcPts val="2240"/>
                        </a:lnSpc>
                        <a:buNone/>
                      </a:pPr>
                      <a:r>
                        <a:rPr lang="en-US" sz="1600" dirty="0">
                          <a:solidFill>
                            <a:srgbClr val="1D1B2F"/>
                          </a:solidFill>
                          <a:latin typeface="Inter" pitchFamily="34" charset="0"/>
                          <a:ea typeface="Inter" pitchFamily="34" charset="-122"/>
                          <a:cs typeface="Inter" pitchFamily="34" charset="-120"/>
                        </a:rPr>
                        <a:t>Gap, screen to wall</a:t>
                      </a:r>
                      <a:endParaRPr lang="en-US" sz="1600" dirty="0">
                        <a:latin typeface="Inter" charset="0"/>
                        <a:ea typeface="Inter" charset="0"/>
                        <a:cs typeface="Int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algn="r" indent="0" marL="0">
                        <a:lnSpc>
                          <a:spcPts val="2240"/>
                        </a:lnSpc>
                        <a:buNone/>
                      </a:pPr>
                      <a:r>
                        <a:rPr lang="en-US" sz="1600" dirty="0">
                          <a:solidFill>
                            <a:srgbClr val="1D1B2F"/>
                          </a:solidFill>
                          <a:latin typeface="Inter" pitchFamily="34" charset="0"/>
                          <a:ea typeface="Inter" pitchFamily="34" charset="-122"/>
                          <a:cs typeface="Inter" pitchFamily="34" charset="-120"/>
                        </a:rPr>
                        <a:t>1–2 m</a:t>
                      </a:r>
                      <a:endParaRPr lang="en-US" sz="1600" dirty="0">
                        <a:latin typeface="Inter" charset="0"/>
                        <a:ea typeface="Inter" charset="0"/>
                        <a:cs typeface="Inter" charset="0"/>
                      </a:endParaRPr>
                    </a:p>
                  </a:txBody>
                  <a:tcPr marL="71120" marR="71120" marT="71120" marB="7112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0" name="Text 6"/>
          <p:cNvSpPr/>
          <p:nvPr/>
        </p:nvSpPr>
        <p:spPr>
          <a:xfrm>
            <a:off x="812790" y="5281178"/>
            <a:ext cx="9810748" cy="586222"/>
          </a:xfrm>
          <a:prstGeom prst="rect">
            <a:avLst/>
          </a:prstGeom>
          <a:noFill/>
          <a:ln/>
        </p:spPr>
        <p:txBody>
          <a:bodyPr wrap="square" lIns="0" tIns="0" rIns="0" bIns="0" rtlCol="0" anchor="t">
            <a:normAutofit/>
          </a:bodyPr>
          <a:lstStyle/>
          <a:p>
            <a:pPr algn="l" indent="0" marL="0">
              <a:lnSpc>
                <a:spcPts val="2212"/>
              </a:lnSpc>
              <a:buNone/>
            </a:pPr>
            <a:r>
              <a:rPr lang="en-US" sz="1580" dirty="0">
                <a:solidFill>
                  <a:srgbClr val="1D1B2F"/>
                </a:solidFill>
                <a:latin typeface="Inter" pitchFamily="34" charset="0"/>
                <a:ea typeface="Inter" pitchFamily="34" charset="-122"/>
                <a:cs typeface="Inter" pitchFamily="34" charset="-120"/>
              </a:rPr>
              <a:t>Sound does not stop at a screen. It bends around the ends, and the bent waves interfere. Formulas and ray tracing are weakest exactly here, so the room has to be solved as a wave problem.</a:t>
            </a:r>
            <a:endParaRPr lang="en-US" sz="15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812790" y="812791"/>
            <a:ext cx="10883410" cy="23876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3FD3"/>
                </a:solidFill>
                <a:latin typeface="Inter" pitchFamily="34" charset="0"/>
                <a:ea typeface="Inter" pitchFamily="34" charset="-122"/>
                <a:cs typeface="Inter" pitchFamily="34" charset="-120"/>
              </a:rPr>
              <a:t>THE PRODUCT</a:t>
            </a:r>
            <a:endParaRPr lang="en-US" sz="1200" dirty="0"/>
          </a:p>
        </p:txBody>
      </p:sp>
      <p:sp>
        <p:nvSpPr>
          <p:cNvPr id="3" name="Text 1"/>
          <p:cNvSpPr/>
          <p:nvPr>
            <p:ph type="title"/>
          </p:nvPr>
        </p:nvSpPr>
        <p:spPr>
          <a:xfrm>
            <a:off x="812790" y="1127739"/>
            <a:ext cx="10883410" cy="528297"/>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1D1B2F"/>
                </a:solidFill>
                <a:latin typeface="Inter" pitchFamily="34" charset="0"/>
                <a:ea typeface="Inter" pitchFamily="34" charset="-122"/>
                <a:cs typeface="Inter" pitchFamily="34" charset="-120"/>
              </a:rPr>
              <a:t>From a room to a </a:t>
            </a:r>
            <a:r>
              <a:rPr lang="en-US" sz="3600" b="1" i="0" spc="-50" kern="0" dirty="0">
                <a:solidFill>
                  <a:srgbClr val="1D1B2F"/>
                </a:solidFill>
                <a:latin typeface="Inter" pitchFamily="34" charset="0"/>
                <a:ea typeface="Inter" pitchFamily="34" charset="-122"/>
                <a:cs typeface="Inter" pitchFamily="34" charset="-120"/>
              </a:rPr>
              <a:t>placement</a:t>
            </a:r>
            <a:endParaRPr lang="en-US" sz="3600" dirty="0"/>
          </a:p>
        </p:txBody>
      </p:sp>
      <p:sp>
        <p:nvSpPr>
          <p:cNvPr id="4" name="Text 2"/>
          <p:cNvSpPr/>
          <p:nvPr/>
        </p:nvSpPr>
        <p:spPr>
          <a:xfrm>
            <a:off x="812790" y="1935426"/>
            <a:ext cx="4185919" cy="26924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3FD3"/>
                </a:solidFill>
                <a:latin typeface="Inter" pitchFamily="34" charset="0"/>
                <a:ea typeface="Inter" pitchFamily="34" charset="-122"/>
                <a:cs typeface="Inter" pitchFamily="34" charset="-120"/>
              </a:rPr>
              <a:t>1</a:t>
            </a:r>
            <a:r>
              <a:rPr lang="en-US" sz="1600" b="1" dirty="0">
                <a:solidFill>
                  <a:srgbClr val="1D1B2F"/>
                </a:solidFill>
                <a:latin typeface="Inter" pitchFamily="34" charset="0"/>
                <a:ea typeface="Inter" pitchFamily="34" charset="-122"/>
                <a:cs typeface="Inter" pitchFamily="34" charset="-120"/>
              </a:rPr>
              <a:t> Bring the room</a:t>
            </a:r>
            <a:endParaRPr lang="en-US" sz="1600" dirty="0"/>
          </a:p>
        </p:txBody>
      </p:sp>
      <p:sp>
        <p:nvSpPr>
          <p:cNvPr id="5" name="Text 3"/>
          <p:cNvSpPr/>
          <p:nvPr/>
        </p:nvSpPr>
        <p:spPr>
          <a:xfrm>
            <a:off x="812790" y="2230059"/>
            <a:ext cx="4185919" cy="4521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Scan it with a phone and trace the walls, or draw the outline.</a:t>
            </a:r>
            <a:endParaRPr lang="en-US" sz="1200" dirty="0"/>
          </a:p>
        </p:txBody>
      </p:sp>
      <p:sp>
        <p:nvSpPr>
          <p:cNvPr id="6" name="Text 4"/>
          <p:cNvSpPr/>
          <p:nvPr/>
        </p:nvSpPr>
        <p:spPr>
          <a:xfrm>
            <a:off x="812790" y="2834584"/>
            <a:ext cx="4185919" cy="26924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3FD3"/>
                </a:solidFill>
                <a:latin typeface="Inter" pitchFamily="34" charset="0"/>
                <a:ea typeface="Inter" pitchFamily="34" charset="-122"/>
                <a:cs typeface="Inter" pitchFamily="34" charset="-120"/>
              </a:rPr>
              <a:t>2</a:t>
            </a:r>
            <a:r>
              <a:rPr lang="en-US" sz="1600" b="1" dirty="0">
                <a:solidFill>
                  <a:srgbClr val="1D1B2F"/>
                </a:solidFill>
                <a:latin typeface="Inter" pitchFamily="34" charset="0"/>
                <a:ea typeface="Inter" pitchFamily="34" charset="-122"/>
                <a:cs typeface="Inter" pitchFamily="34" charset="-120"/>
              </a:rPr>
              <a:t> Mark noise and quiet</a:t>
            </a:r>
            <a:endParaRPr lang="en-US" sz="1600" dirty="0"/>
          </a:p>
        </p:txBody>
      </p:sp>
      <p:sp>
        <p:nvSpPr>
          <p:cNvPr id="7" name="Text 5"/>
          <p:cNvSpPr/>
          <p:nvPr/>
        </p:nvSpPr>
        <p:spPr>
          <a:xfrm>
            <a:off x="812790" y="3129217"/>
            <a:ext cx="4185919" cy="4521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Where people talk, and where people need to concentrate.</a:t>
            </a:r>
            <a:endParaRPr lang="en-US" sz="1200" dirty="0"/>
          </a:p>
        </p:txBody>
      </p:sp>
      <p:sp>
        <p:nvSpPr>
          <p:cNvPr id="8" name="Text 6"/>
          <p:cNvSpPr/>
          <p:nvPr/>
        </p:nvSpPr>
        <p:spPr>
          <a:xfrm>
            <a:off x="812790" y="3733741"/>
            <a:ext cx="4185919" cy="26924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3FD3"/>
                </a:solidFill>
                <a:latin typeface="Inter" pitchFamily="34" charset="0"/>
                <a:ea typeface="Inter" pitchFamily="34" charset="-122"/>
                <a:cs typeface="Inter" pitchFamily="34" charset="-120"/>
              </a:rPr>
              <a:t>3</a:t>
            </a:r>
            <a:r>
              <a:rPr lang="en-US" sz="1600" b="1" dirty="0">
                <a:solidFill>
                  <a:srgbClr val="1D1B2F"/>
                </a:solidFill>
                <a:latin typeface="Inter" pitchFamily="34" charset="0"/>
                <a:ea typeface="Inter" pitchFamily="34" charset="-122"/>
                <a:cs typeface="Inter" pitchFamily="34" charset="-120"/>
              </a:rPr>
              <a:t> Say how many panels</a:t>
            </a:r>
            <a:endParaRPr lang="en-US" sz="1600" dirty="0"/>
          </a:p>
        </p:txBody>
      </p:sp>
      <p:sp>
        <p:nvSpPr>
          <p:cNvPr id="9" name="Text 7"/>
          <p:cNvSpPr/>
          <p:nvPr/>
        </p:nvSpPr>
        <p:spPr>
          <a:xfrm>
            <a:off x="812790" y="4028374"/>
            <a:ext cx="4185919" cy="2387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One to four, with a quick or a detailed search.</a:t>
            </a:r>
            <a:endParaRPr lang="en-US" sz="1200" dirty="0"/>
          </a:p>
        </p:txBody>
      </p:sp>
      <p:sp>
        <p:nvSpPr>
          <p:cNvPr id="10" name="Text 8"/>
          <p:cNvSpPr/>
          <p:nvPr/>
        </p:nvSpPr>
        <p:spPr>
          <a:xfrm>
            <a:off x="812790" y="4419532"/>
            <a:ext cx="4185919" cy="26924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5B3FD3"/>
                </a:solidFill>
                <a:latin typeface="Inter" pitchFamily="34" charset="0"/>
                <a:ea typeface="Inter" pitchFamily="34" charset="-122"/>
                <a:cs typeface="Inter" pitchFamily="34" charset="-120"/>
              </a:rPr>
              <a:t>4</a:t>
            </a:r>
            <a:r>
              <a:rPr lang="en-US" sz="1600" b="1" dirty="0">
                <a:solidFill>
                  <a:srgbClr val="1D1B2F"/>
                </a:solidFill>
                <a:latin typeface="Inter" pitchFamily="34" charset="0"/>
                <a:ea typeface="Inter" pitchFamily="34" charset="-122"/>
                <a:cs typeface="Inter" pitchFamily="34" charset="-120"/>
              </a:rPr>
              <a:t> Get the positions</a:t>
            </a:r>
            <a:endParaRPr lang="en-US" sz="1600" dirty="0"/>
          </a:p>
        </p:txBody>
      </p:sp>
      <p:sp>
        <p:nvSpPr>
          <p:cNvPr id="11" name="Text 9"/>
          <p:cNvSpPr/>
          <p:nvPr/>
        </p:nvSpPr>
        <p:spPr>
          <a:xfrm>
            <a:off x="812790" y="4714165"/>
            <a:ext cx="4185919" cy="4521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Allsolve simulates the layouts. Each panel comes back measured from the walls.</a:t>
            </a:r>
            <a:endParaRPr lang="en-US" sz="1200" dirty="0"/>
          </a:p>
        </p:txBody>
      </p:sp>
      <p:sp>
        <p:nvSpPr>
          <p:cNvPr id="12" name="Shape 10"/>
          <p:cNvSpPr/>
          <p:nvPr/>
        </p:nvSpPr>
        <p:spPr>
          <a:xfrm>
            <a:off x="5283161" y="1935426"/>
            <a:ext cx="6095999" cy="3759162"/>
          </a:xfrm>
          <a:prstGeom prst="roundRect">
            <a:avLst>
              <a:gd name="adj" fmla="val 2703"/>
            </a:avLst>
          </a:prstGeom>
          <a:solidFill>
            <a:srgbClr val="F4F5FA"/>
          </a:solidFill>
          <a:ln/>
        </p:spPr>
      </p:sp>
      <p:pic>
        <p:nvPicPr>
          <p:cNvPr id="13" name="Image 0" descr="Allquiet step 2: a 16 by 10 metre office plan with a coffee point as the noise source and two quiet zones, focus desks and phone booths">    </p:cNvPr>
          <p:cNvPicPr>
            <a:picLocks noChangeAspect="1"/>
          </p:cNvPicPr>
          <p:nvPr/>
        </p:nvPicPr>
        <p:blipFill>
          <a:blip r:embed="rId1"/>
          <a:srcRect l="-22" r="-22" t="0" b="0"/>
          <a:stretch/>
        </p:blipFill>
        <p:spPr>
          <a:xfrm>
            <a:off x="5289511" y="1941776"/>
            <a:ext cx="6083299" cy="3746462"/>
          </a:xfrm>
          <a:prstGeom prst="roundRect">
            <a:avLst>
              <a:gd name="adj" fmla="val 2542"/>
            </a:avLst>
          </a:prstGeom>
        </p:spPr>
      </p:pic>
      <p:sp>
        <p:nvSpPr>
          <p:cNvPr id="14" name="Shape 11"/>
          <p:cNvSpPr/>
          <p:nvPr/>
        </p:nvSpPr>
        <p:spPr>
          <a:xfrm>
            <a:off x="5286336" y="1938601"/>
            <a:ext cx="6089649" cy="3752812"/>
          </a:xfrm>
          <a:prstGeom prst="roundRect">
            <a:avLst>
              <a:gd name="adj" fmla="val 2623"/>
            </a:avLst>
          </a:prstGeom>
          <a:noFill/>
          <a:ln w="6350">
            <a:solidFill>
              <a:srgbClr val="DFE2EC"/>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812790" y="812788"/>
            <a:ext cx="10883410" cy="23876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3FD3"/>
                </a:solidFill>
                <a:latin typeface="Inter" pitchFamily="34" charset="0"/>
                <a:ea typeface="Inter" pitchFamily="34" charset="-122"/>
                <a:cs typeface="Inter" pitchFamily="34" charset="-120"/>
              </a:rPr>
              <a:t>THE DEMO</a:t>
            </a:r>
            <a:endParaRPr lang="en-US" sz="1200" dirty="0"/>
          </a:p>
        </p:txBody>
      </p:sp>
      <p:sp>
        <p:nvSpPr>
          <p:cNvPr id="3" name="Text 1"/>
          <p:cNvSpPr/>
          <p:nvPr>
            <p:ph type="title"/>
          </p:nvPr>
        </p:nvSpPr>
        <p:spPr>
          <a:xfrm>
            <a:off x="812790" y="1127739"/>
            <a:ext cx="10883410" cy="528297"/>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1D1B2F"/>
                </a:solidFill>
                <a:latin typeface="Inter" pitchFamily="34" charset="0"/>
                <a:ea typeface="Inter" pitchFamily="34" charset="-122"/>
                <a:cs typeface="Inter" pitchFamily="34" charset="-120"/>
              </a:rPr>
              <a:t>Three panels, placed by </a:t>
            </a:r>
            <a:r>
              <a:rPr lang="en-US" sz="3600" b="1" i="0" spc="-50" kern="0" dirty="0">
                <a:solidFill>
                  <a:srgbClr val="1D1B2F"/>
                </a:solidFill>
                <a:latin typeface="Inter" pitchFamily="34" charset="0"/>
                <a:ea typeface="Inter" pitchFamily="34" charset="-122"/>
                <a:cs typeface="Inter" pitchFamily="34" charset="-120"/>
              </a:rPr>
              <a:t>simulation</a:t>
            </a:r>
            <a:endParaRPr lang="en-US" sz="3600" dirty="0"/>
          </a:p>
        </p:txBody>
      </p:sp>
      <p:sp>
        <p:nvSpPr>
          <p:cNvPr id="4" name="Shape 2"/>
          <p:cNvSpPr/>
          <p:nvPr/>
        </p:nvSpPr>
        <p:spPr>
          <a:xfrm>
            <a:off x="812790" y="1935426"/>
            <a:ext cx="6413499" cy="3708371"/>
          </a:xfrm>
          <a:prstGeom prst="roundRect">
            <a:avLst>
              <a:gd name="adj" fmla="val 2740"/>
            </a:avLst>
          </a:prstGeom>
          <a:solidFill>
            <a:srgbClr val="F4F5FA"/>
          </a:solidFill>
          <a:ln/>
        </p:spPr>
      </p:sp>
      <p:pic>
        <p:nvPicPr>
          <p:cNvPr id="5" name="Image 0" descr="Allquiet result: floor plan with three numbered panels between the coffee point and the quiet zones, levels 50 to 37 dB at the focus desks and 50 to 38 dB at the phone booths, and each panel's distance from the walls">    </p:cNvPr>
          <p:cNvPicPr>
            <a:picLocks noChangeAspect="1"/>
          </p:cNvPicPr>
          <p:nvPr/>
        </p:nvPicPr>
        <p:blipFill>
          <a:blip r:embed="rId1"/>
          <a:srcRect l="-92" r="-92" t="0" b="0"/>
          <a:stretch/>
        </p:blipFill>
        <p:spPr>
          <a:xfrm>
            <a:off x="819140" y="1941776"/>
            <a:ext cx="6400799" cy="3695671"/>
          </a:xfrm>
          <a:prstGeom prst="roundRect">
            <a:avLst>
              <a:gd name="adj" fmla="val 2577"/>
            </a:avLst>
          </a:prstGeom>
        </p:spPr>
      </p:pic>
      <p:sp>
        <p:nvSpPr>
          <p:cNvPr id="6" name="Shape 3"/>
          <p:cNvSpPr/>
          <p:nvPr/>
        </p:nvSpPr>
        <p:spPr>
          <a:xfrm>
            <a:off x="815965" y="1938601"/>
            <a:ext cx="6407149" cy="3702021"/>
          </a:xfrm>
          <a:prstGeom prst="roundRect">
            <a:avLst>
              <a:gd name="adj" fmla="val 2659"/>
            </a:avLst>
          </a:prstGeom>
          <a:noFill/>
          <a:ln w="6350">
            <a:solidFill>
              <a:srgbClr val="DFE2EC"/>
            </a:solidFill>
            <a:prstDash val="solid"/>
          </a:ln>
        </p:spPr>
      </p:sp>
      <p:sp>
        <p:nvSpPr>
          <p:cNvPr id="7" name="Text 4"/>
          <p:cNvSpPr/>
          <p:nvPr/>
        </p:nvSpPr>
        <p:spPr>
          <a:xfrm>
            <a:off x="7632660" y="1935426"/>
            <a:ext cx="3858943"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A7A5F"/>
                </a:solidFill>
                <a:latin typeface="Inter" pitchFamily="34" charset="0"/>
                <a:ea typeface="Inter" pitchFamily="34" charset="-122"/>
                <a:cs typeface="Inter" pitchFamily="34" charset="-120"/>
              </a:rPr>
              <a:t>50 → 37</a:t>
            </a:r>
            <a:endParaRPr lang="en-US" sz="6000" dirty="0"/>
          </a:p>
        </p:txBody>
      </p:sp>
      <p:sp>
        <p:nvSpPr>
          <p:cNvPr id="8" name="Text 5"/>
          <p:cNvSpPr/>
          <p:nvPr/>
        </p:nvSpPr>
        <p:spPr>
          <a:xfrm>
            <a:off x="7632660" y="2824426"/>
            <a:ext cx="3858943" cy="553716"/>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D1B2F"/>
                </a:solidFill>
                <a:latin typeface="Inter" pitchFamily="34" charset="0"/>
                <a:ea typeface="Inter" pitchFamily="34" charset="-122"/>
                <a:cs typeface="Inter" pitchFamily="34" charset="-120"/>
              </a:rPr>
              <a:t>dB in the quiet zones, before and after: 13 dB quieter on average</a:t>
            </a:r>
            <a:endParaRPr lang="en-US" sz="1600" dirty="0"/>
          </a:p>
        </p:txBody>
      </p:sp>
      <p:pic>
        <p:nvPicPr>
          <p:cNvPr id="9" name="Image 1" descr="line">    </p:cNvPr>
          <p:cNvPicPr>
            <a:picLocks noChangeAspect="1"/>
          </p:cNvPicPr>
          <p:nvPr/>
        </p:nvPicPr>
        <p:blipFill>
          <a:blip r:embed="rId2"/>
          <a:srcRect l="0" r="0" t="0" b="0"/>
          <a:stretch/>
        </p:blipFill>
        <p:spPr>
          <a:xfrm>
            <a:off x="7632660" y="3479741"/>
            <a:ext cx="3746499" cy="6350"/>
          </a:xfrm>
          <a:prstGeom prst="rect">
            <a:avLst/>
          </a:prstGeom>
        </p:spPr>
      </p:pic>
      <p:sp>
        <p:nvSpPr>
          <p:cNvPr id="10" name="Text 6"/>
          <p:cNvSpPr/>
          <p:nvPr/>
        </p:nvSpPr>
        <p:spPr>
          <a:xfrm>
            <a:off x="7632660" y="3613072"/>
            <a:ext cx="3858943" cy="553716"/>
          </a:xfrm>
          <a:prstGeom prst="rect">
            <a:avLst/>
          </a:prstGeom>
          <a:noFill/>
          <a:ln/>
        </p:spPr>
        <p:txBody>
          <a:bodyPr wrap="square" lIns="0" tIns="0" rIns="0" bIns="0" rtlCol="0" anchor="t">
            <a:normAutofit/>
          </a:bodyPr>
          <a:lstStyle/>
          <a:p>
            <a:pPr algn="l" indent="0" marL="0">
              <a:lnSpc>
                <a:spcPts val="2080"/>
              </a:lnSpc>
              <a:buNone/>
            </a:pPr>
            <a:r>
              <a:rPr lang="en-US" sz="1600" b="1" dirty="0">
                <a:solidFill>
                  <a:srgbClr val="1D1B2F"/>
                </a:solidFill>
                <a:latin typeface="Inter" pitchFamily="34" charset="0"/>
                <a:ea typeface="Inter" pitchFamily="34" charset="-122"/>
                <a:cs typeface="Inter" pitchFamily="34" charset="-120"/>
              </a:rPr>
              <a:t>22 layouts</a:t>
            </a:r>
            <a:r>
              <a:rPr lang="en-US" sz="1600" dirty="0">
                <a:solidFill>
                  <a:srgbClr val="1D1B2F"/>
                </a:solidFill>
                <a:latin typeface="Inter" pitchFamily="34" charset="0"/>
                <a:ea typeface="Inter" pitchFamily="34" charset="-122"/>
                <a:cs typeface="Inter" pitchFamily="34" charset="-120"/>
              </a:rPr>
              <a:t> and 44 wave solves on Allsolve in </a:t>
            </a:r>
            <a:r>
              <a:rPr lang="en-US" sz="1600" b="1" dirty="0">
                <a:solidFill>
                  <a:srgbClr val="1D1B2F"/>
                </a:solidFill>
                <a:latin typeface="Inter" pitchFamily="34" charset="0"/>
                <a:ea typeface="Inter" pitchFamily="34" charset="-122"/>
                <a:cs typeface="Inter" pitchFamily="34" charset="-120"/>
              </a:rPr>
              <a:t>33 seconds</a:t>
            </a:r>
            <a:endParaRPr lang="en-US" sz="1600" dirty="0"/>
          </a:p>
        </p:txBody>
      </p:sp>
      <p:sp>
        <p:nvSpPr>
          <p:cNvPr id="11" name="Text 7"/>
          <p:cNvSpPr/>
          <p:nvPr/>
        </p:nvSpPr>
        <p:spPr>
          <a:xfrm>
            <a:off x="7632660" y="4268388"/>
            <a:ext cx="3858943" cy="6655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The in-browser rule of thumb scored this layout 78. Allsolve scored it 24, where 100 is the room with no panels.</a:t>
            </a:r>
            <a:endParaRPr lang="en-US" sz="1200" dirty="0"/>
          </a:p>
        </p:txBody>
      </p:sp>
      <p:sp>
        <p:nvSpPr>
          <p:cNvPr id="12" name="Text 8"/>
          <p:cNvSpPr/>
          <p:nvPr/>
        </p:nvSpPr>
        <p:spPr>
          <a:xfrm>
            <a:off x="812790" y="6238258"/>
            <a:ext cx="10883361" cy="2387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Simulated levels for this model of the room. They compare layouts and are not a certified measurement.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812790" y="812791"/>
            <a:ext cx="10883410" cy="23876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3FD3"/>
                </a:solidFill>
                <a:latin typeface="Inter" pitchFamily="34" charset="0"/>
                <a:ea typeface="Inter" pitchFamily="34" charset="-122"/>
                <a:cs typeface="Inter" pitchFamily="34" charset="-120"/>
              </a:rPr>
              <a:t>A REAL ROOM</a:t>
            </a:r>
            <a:endParaRPr lang="en-US" sz="1200" dirty="0"/>
          </a:p>
        </p:txBody>
      </p:sp>
      <p:sp>
        <p:nvSpPr>
          <p:cNvPr id="3" name="Text 1"/>
          <p:cNvSpPr/>
          <p:nvPr>
            <p:ph type="title"/>
          </p:nvPr>
        </p:nvSpPr>
        <p:spPr>
          <a:xfrm>
            <a:off x="812790" y="1127739"/>
            <a:ext cx="10883410" cy="528297"/>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1D1B2F"/>
                </a:solidFill>
                <a:latin typeface="Inter" pitchFamily="34" charset="0"/>
                <a:ea typeface="Inter" pitchFamily="34" charset="-122"/>
                <a:cs typeface="Inter" pitchFamily="34" charset="-120"/>
              </a:rPr>
              <a:t>An office scanned with a </a:t>
            </a:r>
            <a:r>
              <a:rPr lang="en-US" sz="3600" b="1" i="0" spc="-50" kern="0" dirty="0">
                <a:solidFill>
                  <a:srgbClr val="1D1B2F"/>
                </a:solidFill>
                <a:latin typeface="Inter" pitchFamily="34" charset="0"/>
                <a:ea typeface="Inter" pitchFamily="34" charset="-122"/>
                <a:cs typeface="Inter" pitchFamily="34" charset="-120"/>
              </a:rPr>
              <a:t>phone</a:t>
            </a:r>
            <a:endParaRPr lang="en-US" sz="3600" dirty="0"/>
          </a:p>
        </p:txBody>
      </p:sp>
      <p:sp>
        <p:nvSpPr>
          <p:cNvPr id="4" name="Shape 2"/>
          <p:cNvSpPr/>
          <p:nvPr/>
        </p:nvSpPr>
        <p:spPr>
          <a:xfrm>
            <a:off x="812790" y="1935426"/>
            <a:ext cx="5079999" cy="3771871"/>
          </a:xfrm>
          <a:prstGeom prst="roundRect">
            <a:avLst>
              <a:gd name="adj" fmla="val 2694"/>
            </a:avLst>
          </a:prstGeom>
          <a:solidFill>
            <a:srgbClr val="F4F5FA"/>
          </a:solidFill>
          <a:ln/>
        </p:spPr>
      </p:sp>
      <p:pic>
        <p:nvPicPr>
          <p:cNvPr id="5" name="Image 0" descr="Allquiet result on a phone scan of a real office: the 3D scan with three panels placed between the desks, quiet zones going from 55 to 45 dB, and each panel's distance from the walls">    </p:cNvPr>
          <p:cNvPicPr>
            <a:picLocks noChangeAspect="1"/>
          </p:cNvPicPr>
          <p:nvPr/>
        </p:nvPicPr>
        <p:blipFill>
          <a:blip r:embed="rId1"/>
          <a:srcRect l="-75" r="-75" t="0" b="0"/>
          <a:stretch/>
        </p:blipFill>
        <p:spPr>
          <a:xfrm>
            <a:off x="819140" y="1941776"/>
            <a:ext cx="5067299" cy="3759171"/>
          </a:xfrm>
          <a:prstGeom prst="roundRect">
            <a:avLst>
              <a:gd name="adj" fmla="val 2534"/>
            </a:avLst>
          </a:prstGeom>
        </p:spPr>
      </p:pic>
      <p:sp>
        <p:nvSpPr>
          <p:cNvPr id="6" name="Shape 3"/>
          <p:cNvSpPr/>
          <p:nvPr/>
        </p:nvSpPr>
        <p:spPr>
          <a:xfrm>
            <a:off x="815965" y="1938601"/>
            <a:ext cx="5073649" cy="3765521"/>
          </a:xfrm>
          <a:prstGeom prst="roundRect">
            <a:avLst>
              <a:gd name="adj" fmla="val 2614"/>
            </a:avLst>
          </a:prstGeom>
          <a:noFill/>
          <a:ln w="6350">
            <a:solidFill>
              <a:srgbClr val="DFE2EC"/>
            </a:solidFill>
            <a:prstDash val="solid"/>
          </a:ln>
        </p:spPr>
      </p:sp>
      <p:sp>
        <p:nvSpPr>
          <p:cNvPr id="7" name="Text 4"/>
          <p:cNvSpPr/>
          <p:nvPr/>
        </p:nvSpPr>
        <p:spPr>
          <a:xfrm>
            <a:off x="6299161" y="1935426"/>
            <a:ext cx="5232448"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A7A5F"/>
                </a:solidFill>
                <a:latin typeface="Inter" pitchFamily="34" charset="0"/>
                <a:ea typeface="Inter" pitchFamily="34" charset="-122"/>
                <a:cs typeface="Inter" pitchFamily="34" charset="-120"/>
              </a:rPr>
              <a:t>55 → 45</a:t>
            </a:r>
            <a:endParaRPr lang="en-US" sz="6000" dirty="0"/>
          </a:p>
        </p:txBody>
      </p:sp>
      <p:sp>
        <p:nvSpPr>
          <p:cNvPr id="8" name="Text 5"/>
          <p:cNvSpPr/>
          <p:nvPr/>
        </p:nvSpPr>
        <p:spPr>
          <a:xfrm>
            <a:off x="6299161" y="2824426"/>
            <a:ext cx="5232448" cy="553716"/>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D1B2F"/>
                </a:solidFill>
                <a:latin typeface="Inter" pitchFamily="34" charset="0"/>
                <a:ea typeface="Inter" pitchFamily="34" charset="-122"/>
                <a:cs typeface="Inter" pitchFamily="34" charset="-120"/>
              </a:rPr>
              <a:t>dB in the quiet zones, before and after three panels: 10 dB quieter on average</a:t>
            </a:r>
            <a:endParaRPr lang="en-US" sz="1600" dirty="0"/>
          </a:p>
        </p:txBody>
      </p:sp>
      <p:pic>
        <p:nvPicPr>
          <p:cNvPr id="9" name="Image 1" descr="line">    </p:cNvPr>
          <p:cNvPicPr>
            <a:picLocks noChangeAspect="1"/>
          </p:cNvPicPr>
          <p:nvPr/>
        </p:nvPicPr>
        <p:blipFill>
          <a:blip r:embed="rId2"/>
          <a:srcRect l="0" r="0" t="0" b="0"/>
          <a:stretch/>
        </p:blipFill>
        <p:spPr>
          <a:xfrm>
            <a:off x="6299161" y="3479744"/>
            <a:ext cx="5079999" cy="6350"/>
          </a:xfrm>
          <a:prstGeom prst="rect">
            <a:avLst/>
          </a:prstGeom>
        </p:spPr>
      </p:pic>
      <p:sp>
        <p:nvSpPr>
          <p:cNvPr id="10" name="Text 6"/>
          <p:cNvSpPr/>
          <p:nvPr/>
        </p:nvSpPr>
        <p:spPr>
          <a:xfrm>
            <a:off x="6299161" y="3613076"/>
            <a:ext cx="5232448" cy="553716"/>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D1B2F"/>
                </a:solidFill>
                <a:latin typeface="Inter" pitchFamily="34" charset="0"/>
                <a:ea typeface="Inter" pitchFamily="34" charset="-122"/>
                <a:cs typeface="Inter" pitchFamily="34" charset="-120"/>
              </a:rPr>
              <a:t>A 10.6 × 7.3 m office, traced over its own scan. </a:t>
            </a:r>
            <a:r>
              <a:rPr lang="en-US" sz="1600" b="1" dirty="0">
                <a:solidFill>
                  <a:srgbClr val="1D1B2F"/>
                </a:solidFill>
                <a:latin typeface="Inter" pitchFamily="34" charset="0"/>
                <a:ea typeface="Inter" pitchFamily="34" charset="-122"/>
                <a:cs typeface="Inter" pitchFamily="34" charset="-120"/>
              </a:rPr>
              <a:t>19 layouts</a:t>
            </a:r>
            <a:r>
              <a:rPr lang="en-US" sz="1600" dirty="0">
                <a:solidFill>
                  <a:srgbClr val="1D1B2F"/>
                </a:solidFill>
                <a:latin typeface="Inter" pitchFamily="34" charset="0"/>
                <a:ea typeface="Inter" pitchFamily="34" charset="-122"/>
                <a:cs typeface="Inter" pitchFamily="34" charset="-120"/>
              </a:rPr>
              <a:t> on the detailed search in </a:t>
            </a:r>
            <a:r>
              <a:rPr lang="en-US" sz="1600" b="1" dirty="0">
                <a:solidFill>
                  <a:srgbClr val="1D1B2F"/>
                </a:solidFill>
                <a:latin typeface="Inter" pitchFamily="34" charset="0"/>
                <a:ea typeface="Inter" pitchFamily="34" charset="-122"/>
                <a:cs typeface="Inter" pitchFamily="34" charset="-120"/>
              </a:rPr>
              <a:t>3 min 8 s</a:t>
            </a:r>
            <a:r>
              <a:rPr lang="en-US" sz="1600" dirty="0">
                <a:solidFill>
                  <a:srgbClr val="1D1B2F"/>
                </a:solidFill>
                <a:latin typeface="Inter" pitchFamily="34" charset="0"/>
                <a:ea typeface="Inter" pitchFamily="34" charset="-122"/>
                <a:cs typeface="Inter" pitchFamily="34" charset="-120"/>
              </a:rPr>
              <a:t>.</a:t>
            </a:r>
            <a:endParaRPr lang="en-US" sz="1600" dirty="0"/>
          </a:p>
        </p:txBody>
      </p:sp>
      <p:sp>
        <p:nvSpPr>
          <p:cNvPr id="11" name="Text 7"/>
          <p:cNvSpPr/>
          <p:nvPr/>
        </p:nvSpPr>
        <p:spPr>
          <a:xfrm>
            <a:off x="6299161" y="4268388"/>
            <a:ext cx="5232448" cy="452135"/>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The blue shape is the scan. The panels come back as distances from the walls, ready for whoever carries them in.</a:t>
            </a:r>
            <a:endParaRPr lang="en-US" sz="1200" dirty="0"/>
          </a:p>
        </p:txBody>
      </p:sp>
      <p:sp>
        <p:nvSpPr>
          <p:cNvPr id="12" name="Text 8"/>
          <p:cNvSpPr/>
          <p:nvPr/>
        </p:nvSpPr>
        <p:spPr>
          <a:xfrm>
            <a:off x="812790" y="6238258"/>
            <a:ext cx="10883361" cy="2387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Simulated levels for this model of the room. They compare layouts and are not a certified measurement.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812790" y="812794"/>
            <a:ext cx="10883410" cy="23876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3FD3"/>
                </a:solidFill>
                <a:latin typeface="Inter" pitchFamily="34" charset="0"/>
                <a:ea typeface="Inter" pitchFamily="34" charset="-122"/>
                <a:cs typeface="Inter" pitchFamily="34" charset="-120"/>
              </a:rPr>
              <a:t>A HARDER ROOM</a:t>
            </a:r>
            <a:endParaRPr lang="en-US" sz="1200" dirty="0"/>
          </a:p>
        </p:txBody>
      </p:sp>
      <p:sp>
        <p:nvSpPr>
          <p:cNvPr id="3" name="Text 1"/>
          <p:cNvSpPr/>
          <p:nvPr>
            <p:ph type="title"/>
          </p:nvPr>
        </p:nvSpPr>
        <p:spPr>
          <a:xfrm>
            <a:off x="812790" y="1127739"/>
            <a:ext cx="10883410" cy="528297"/>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1D1B2F"/>
                </a:solidFill>
                <a:latin typeface="Inter" pitchFamily="34" charset="0"/>
                <a:ea typeface="Inter" pitchFamily="34" charset="-122"/>
                <a:cs typeface="Inter" pitchFamily="34" charset="-120"/>
              </a:rPr>
              <a:t>Three noise sources, three places to </a:t>
            </a:r>
            <a:r>
              <a:rPr lang="en-US" sz="3600" b="1" i="0" spc="-50" kern="0" dirty="0">
                <a:solidFill>
                  <a:srgbClr val="1D1B2F"/>
                </a:solidFill>
                <a:latin typeface="Inter" pitchFamily="34" charset="0"/>
                <a:ea typeface="Inter" pitchFamily="34" charset="-122"/>
                <a:cs typeface="Inter" pitchFamily="34" charset="-120"/>
              </a:rPr>
              <a:t>protect</a:t>
            </a:r>
            <a:endParaRPr lang="en-US" sz="3600" dirty="0"/>
          </a:p>
        </p:txBody>
      </p:sp>
      <p:sp>
        <p:nvSpPr>
          <p:cNvPr id="4" name="Shape 2"/>
          <p:cNvSpPr/>
          <p:nvPr/>
        </p:nvSpPr>
        <p:spPr>
          <a:xfrm>
            <a:off x="812790" y="1935429"/>
            <a:ext cx="4546580" cy="3771871"/>
          </a:xfrm>
          <a:prstGeom prst="roundRect">
            <a:avLst>
              <a:gd name="adj" fmla="val 2694"/>
            </a:avLst>
          </a:prstGeom>
          <a:solidFill>
            <a:srgbClr val="F4F5FA"/>
          </a:solidFill>
          <a:ln/>
        </p:spPr>
      </p:sp>
      <p:pic>
        <p:nvPicPr>
          <p:cNvPr id="5" name="Image 0" descr="Allquiet result for an office with three noise sources and three quiet zones: four numbered panels on the plan, quiet zone levels 70 to 67, 72 to 62 and 70 to 67 dB">    </p:cNvPr>
          <p:cNvPicPr>
            <a:picLocks noChangeAspect="1"/>
          </p:cNvPicPr>
          <p:nvPr/>
        </p:nvPicPr>
        <p:blipFill>
          <a:blip r:embed="rId1"/>
          <a:srcRect l="0" r="0" t="-40" b="-40"/>
          <a:stretch/>
        </p:blipFill>
        <p:spPr>
          <a:xfrm>
            <a:off x="819140" y="1941779"/>
            <a:ext cx="4533880" cy="3759171"/>
          </a:xfrm>
          <a:prstGeom prst="roundRect">
            <a:avLst>
              <a:gd name="adj" fmla="val 2534"/>
            </a:avLst>
          </a:prstGeom>
        </p:spPr>
      </p:pic>
      <p:sp>
        <p:nvSpPr>
          <p:cNvPr id="6" name="Shape 3"/>
          <p:cNvSpPr/>
          <p:nvPr/>
        </p:nvSpPr>
        <p:spPr>
          <a:xfrm>
            <a:off x="815965" y="1938604"/>
            <a:ext cx="4540230" cy="3765521"/>
          </a:xfrm>
          <a:prstGeom prst="roundRect">
            <a:avLst>
              <a:gd name="adj" fmla="val 2614"/>
            </a:avLst>
          </a:prstGeom>
          <a:noFill/>
          <a:ln w="6350">
            <a:solidFill>
              <a:srgbClr val="DFE2EC"/>
            </a:solidFill>
            <a:prstDash val="solid"/>
          </a:ln>
        </p:spPr>
      </p:sp>
      <p:sp>
        <p:nvSpPr>
          <p:cNvPr id="7" name="Text 4"/>
          <p:cNvSpPr/>
          <p:nvPr/>
        </p:nvSpPr>
        <p:spPr>
          <a:xfrm>
            <a:off x="5765742" y="1935429"/>
            <a:ext cx="5781869"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2A7A5F"/>
                </a:solidFill>
                <a:latin typeface="Inter" pitchFamily="34" charset="0"/>
                <a:ea typeface="Inter" pitchFamily="34" charset="-122"/>
                <a:cs typeface="Inter" pitchFamily="34" charset="-120"/>
              </a:rPr>
              <a:t>72 → 62</a:t>
            </a:r>
            <a:endParaRPr lang="en-US" sz="6000" dirty="0"/>
          </a:p>
        </p:txBody>
      </p:sp>
      <p:sp>
        <p:nvSpPr>
          <p:cNvPr id="8" name="Text 5"/>
          <p:cNvSpPr/>
          <p:nvPr/>
        </p:nvSpPr>
        <p:spPr>
          <a:xfrm>
            <a:off x="5765742" y="2824429"/>
            <a:ext cx="5781869" cy="553716"/>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D1B2F"/>
                </a:solidFill>
                <a:latin typeface="Inter" pitchFamily="34" charset="0"/>
                <a:ea typeface="Inter" pitchFamily="34" charset="-122"/>
                <a:cs typeface="Inter" pitchFamily="34" charset="-120"/>
              </a:rPr>
              <a:t>dB in the worst quiet zone. The other two go from 70 to 67 dB.</a:t>
            </a:r>
            <a:endParaRPr lang="en-US" sz="1600" dirty="0"/>
          </a:p>
        </p:txBody>
      </p:sp>
      <p:pic>
        <p:nvPicPr>
          <p:cNvPr id="9" name="Image 1" descr="line">    </p:cNvPr>
          <p:cNvPicPr>
            <a:picLocks noChangeAspect="1"/>
          </p:cNvPicPr>
          <p:nvPr/>
        </p:nvPicPr>
        <p:blipFill>
          <a:blip r:embed="rId2"/>
          <a:srcRect l="0" r="0" t="0" b="0"/>
          <a:stretch/>
        </p:blipFill>
        <p:spPr>
          <a:xfrm>
            <a:off x="5765742" y="3479744"/>
            <a:ext cx="5613371" cy="6350"/>
          </a:xfrm>
          <a:prstGeom prst="rect">
            <a:avLst/>
          </a:prstGeom>
        </p:spPr>
      </p:pic>
      <p:sp>
        <p:nvSpPr>
          <p:cNvPr id="10" name="Text 6"/>
          <p:cNvSpPr/>
          <p:nvPr/>
        </p:nvSpPr>
        <p:spPr>
          <a:xfrm>
            <a:off x="5765742" y="3613076"/>
            <a:ext cx="5781869" cy="289558"/>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1D1B2F"/>
                </a:solidFill>
                <a:latin typeface="Inter" pitchFamily="34" charset="0"/>
                <a:ea typeface="Inter" pitchFamily="34" charset="-122"/>
                <a:cs typeface="Inter" pitchFamily="34" charset="-120"/>
              </a:rPr>
              <a:t>Four panels, </a:t>
            </a:r>
            <a:r>
              <a:rPr lang="en-US" sz="1600" b="1" dirty="0">
                <a:solidFill>
                  <a:srgbClr val="1D1B2F"/>
                </a:solidFill>
                <a:latin typeface="Inter" pitchFamily="34" charset="0"/>
                <a:ea typeface="Inter" pitchFamily="34" charset="-122"/>
                <a:cs typeface="Inter" pitchFamily="34" charset="-120"/>
              </a:rPr>
              <a:t>43 layouts</a:t>
            </a:r>
            <a:r>
              <a:rPr lang="en-US" sz="1600" dirty="0">
                <a:solidFill>
                  <a:srgbClr val="1D1B2F"/>
                </a:solidFill>
                <a:latin typeface="Inter" pitchFamily="34" charset="0"/>
                <a:ea typeface="Inter" pitchFamily="34" charset="-122"/>
                <a:cs typeface="Inter" pitchFamily="34" charset="-120"/>
              </a:rPr>
              <a:t> simulated in </a:t>
            </a:r>
            <a:r>
              <a:rPr lang="en-US" sz="1600" b="1" dirty="0">
                <a:solidFill>
                  <a:srgbClr val="1D1B2F"/>
                </a:solidFill>
                <a:latin typeface="Inter" pitchFamily="34" charset="0"/>
                <a:ea typeface="Inter" pitchFamily="34" charset="-122"/>
                <a:cs typeface="Inter" pitchFamily="34" charset="-120"/>
              </a:rPr>
              <a:t>3 min 54 s</a:t>
            </a:r>
            <a:r>
              <a:rPr lang="en-US" sz="1600" dirty="0">
                <a:solidFill>
                  <a:srgbClr val="1D1B2F"/>
                </a:solidFill>
                <a:latin typeface="Inter" pitchFamily="34" charset="0"/>
                <a:ea typeface="Inter" pitchFamily="34" charset="-122"/>
                <a:cs typeface="Inter" pitchFamily="34" charset="-120"/>
              </a:rPr>
              <a:t>.</a:t>
            </a:r>
            <a:endParaRPr lang="en-US" sz="1600" dirty="0"/>
          </a:p>
        </p:txBody>
      </p:sp>
      <p:sp>
        <p:nvSpPr>
          <p:cNvPr id="11" name="Text 7"/>
          <p:cNvSpPr/>
          <p:nvPr/>
        </p:nvSpPr>
        <p:spPr>
          <a:xfrm>
            <a:off x="5765742" y="4004233"/>
            <a:ext cx="5781869" cy="665503"/>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With noise from three sides, no guess puts four panels well. The search spends them where the people sit closest to the noise, and shows what each zone gains.</a:t>
            </a:r>
            <a:endParaRPr lang="en-US" sz="1200" dirty="0"/>
          </a:p>
        </p:txBody>
      </p:sp>
      <p:sp>
        <p:nvSpPr>
          <p:cNvPr id="12" name="Text 8"/>
          <p:cNvSpPr/>
          <p:nvPr/>
        </p:nvSpPr>
        <p:spPr>
          <a:xfrm>
            <a:off x="812790" y="6238261"/>
            <a:ext cx="10883361" cy="2387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46880"/>
                </a:solidFill>
                <a:latin typeface="Inter" pitchFamily="34" charset="0"/>
                <a:ea typeface="Inter" pitchFamily="34" charset="-122"/>
                <a:cs typeface="Inter" pitchFamily="34" charset="-120"/>
              </a:rPr>
              <a:t>Simulated levels for this model of the room. They compare layouts and are not a certified measurement.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D1B2F"/>
        </a:solidFill>
      </p:bgPr>
    </p:bg>
    <p:spTree>
      <p:nvGrpSpPr>
        <p:cNvPr id="1" name=""/>
        <p:cNvGrpSpPr/>
        <p:nvPr/>
      </p:nvGrpSpPr>
      <p:grpSpPr>
        <a:xfrm>
          <a:off x="0" y="0"/>
          <a:ext cx="0" cy="0"/>
          <a:chOff x="0" y="0"/>
          <a:chExt cx="0" cy="0"/>
        </a:xfrm>
      </p:grpSpPr>
      <p:sp>
        <p:nvSpPr>
          <p:cNvPr id="2" name="Text 0"/>
          <p:cNvSpPr/>
          <p:nvPr/>
        </p:nvSpPr>
        <p:spPr>
          <a:xfrm>
            <a:off x="812790" y="812794"/>
            <a:ext cx="10883410" cy="23876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97F5"/>
                </a:solidFill>
                <a:latin typeface="Inter" pitchFamily="34" charset="0"/>
                <a:ea typeface="Inter" pitchFamily="34" charset="-122"/>
                <a:cs typeface="Inter" pitchFamily="34" charset="-120"/>
              </a:rPr>
              <a:t>POWERED BY ALLSOLVE</a:t>
            </a:r>
            <a:endParaRPr lang="en-US" sz="1200" dirty="0"/>
          </a:p>
        </p:txBody>
      </p:sp>
      <p:sp>
        <p:nvSpPr>
          <p:cNvPr id="3" name="Text 1"/>
          <p:cNvSpPr/>
          <p:nvPr>
            <p:ph type="title"/>
          </p:nvPr>
        </p:nvSpPr>
        <p:spPr>
          <a:xfrm>
            <a:off x="812790" y="1127739"/>
            <a:ext cx="10883410" cy="528297"/>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4F5FA"/>
                </a:solidFill>
                <a:latin typeface="Inter" pitchFamily="34" charset="0"/>
                <a:ea typeface="Inter" pitchFamily="34" charset="-122"/>
                <a:cs typeface="Inter" pitchFamily="34" charset="-120"/>
              </a:rPr>
              <a:t>A search needs hundreds of </a:t>
            </a:r>
            <a:r>
              <a:rPr lang="en-US" sz="3600" b="1" i="0" spc="-50" kern="0" dirty="0">
                <a:solidFill>
                  <a:srgbClr val="F4F5FA"/>
                </a:solidFill>
                <a:latin typeface="Inter" pitchFamily="34" charset="0"/>
                <a:ea typeface="Inter" pitchFamily="34" charset="-122"/>
                <a:cs typeface="Inter" pitchFamily="34" charset="-120"/>
              </a:rPr>
              <a:t>solves</a:t>
            </a:r>
            <a:endParaRPr lang="en-US" sz="3600" dirty="0"/>
          </a:p>
        </p:txBody>
      </p:sp>
      <p:sp>
        <p:nvSpPr>
          <p:cNvPr id="4" name="Shape 2"/>
          <p:cNvSpPr/>
          <p:nvPr/>
        </p:nvSpPr>
        <p:spPr>
          <a:xfrm>
            <a:off x="815965" y="1938604"/>
            <a:ext cx="3380316" cy="2169800"/>
          </a:xfrm>
          <a:prstGeom prst="roundRect">
            <a:avLst>
              <a:gd name="adj" fmla="val 4536"/>
            </a:avLst>
          </a:prstGeom>
          <a:solidFill>
            <a:srgbClr val="2A2842"/>
          </a:solidFill>
          <a:ln w="6350">
            <a:solidFill>
              <a:srgbClr val="45426A"/>
            </a:solidFill>
            <a:prstDash val="solid"/>
          </a:ln>
        </p:spPr>
      </p:sp>
      <p:sp>
        <p:nvSpPr>
          <p:cNvPr id="5" name="Text 3"/>
          <p:cNvSpPr/>
          <p:nvPr/>
        </p:nvSpPr>
        <p:spPr>
          <a:xfrm>
            <a:off x="1072838" y="2195475"/>
            <a:ext cx="2952568"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A897F5"/>
                </a:solidFill>
                <a:latin typeface="Inter" pitchFamily="34" charset="0"/>
                <a:ea typeface="Inter" pitchFamily="34" charset="-122"/>
                <a:cs typeface="Inter" pitchFamily="34" charset="-120"/>
              </a:rPr>
              <a:t>100</a:t>
            </a:r>
            <a:endParaRPr lang="en-US" sz="6000" dirty="0"/>
          </a:p>
        </p:txBody>
      </p:sp>
      <p:sp>
        <p:nvSpPr>
          <p:cNvPr id="6" name="Text 4"/>
          <p:cNvSpPr/>
          <p:nvPr/>
        </p:nvSpPr>
        <p:spPr>
          <a:xfrm>
            <a:off x="1072838" y="3059057"/>
            <a:ext cx="2952568" cy="553716"/>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4F5FA"/>
                </a:solidFill>
                <a:latin typeface="Inter" pitchFamily="34" charset="0"/>
                <a:ea typeface="Inter" pitchFamily="34" charset="-122"/>
                <a:cs typeface="Inter" pitchFamily="34" charset="-120"/>
              </a:rPr>
              <a:t>cloud machines can run one sweep at the same time</a:t>
            </a:r>
            <a:endParaRPr lang="en-US" sz="1600" dirty="0"/>
          </a:p>
        </p:txBody>
      </p:sp>
      <p:sp>
        <p:nvSpPr>
          <p:cNvPr id="7" name="Shape 5"/>
          <p:cNvSpPr/>
          <p:nvPr/>
        </p:nvSpPr>
        <p:spPr>
          <a:xfrm>
            <a:off x="4405793" y="1938604"/>
            <a:ext cx="3380363" cy="2169800"/>
          </a:xfrm>
          <a:prstGeom prst="roundRect">
            <a:avLst>
              <a:gd name="adj" fmla="val 4536"/>
            </a:avLst>
          </a:prstGeom>
          <a:solidFill>
            <a:srgbClr val="2A2842"/>
          </a:solidFill>
          <a:ln w="6350">
            <a:solidFill>
              <a:srgbClr val="45426A"/>
            </a:solidFill>
            <a:prstDash val="solid"/>
          </a:ln>
        </p:spPr>
      </p:sp>
      <p:sp>
        <p:nvSpPr>
          <p:cNvPr id="8" name="Text 6"/>
          <p:cNvSpPr/>
          <p:nvPr/>
        </p:nvSpPr>
        <p:spPr>
          <a:xfrm>
            <a:off x="4662666" y="2195475"/>
            <a:ext cx="2952617"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A897F5"/>
                </a:solidFill>
                <a:latin typeface="Inter" pitchFamily="34" charset="0"/>
                <a:ea typeface="Inter" pitchFamily="34" charset="-122"/>
                <a:cs typeface="Inter" pitchFamily="34" charset="-120"/>
              </a:rPr>
              <a:t>28 s</a:t>
            </a:r>
            <a:endParaRPr lang="en-US" sz="6000" dirty="0"/>
          </a:p>
        </p:txBody>
      </p:sp>
      <p:sp>
        <p:nvSpPr>
          <p:cNvPr id="9" name="Text 7"/>
          <p:cNvSpPr/>
          <p:nvPr/>
        </p:nvSpPr>
        <p:spPr>
          <a:xfrm>
            <a:off x="4662666" y="3059057"/>
            <a:ext cx="2952617" cy="817874"/>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4F5FA"/>
                </a:solidFill>
                <a:latin typeface="Inter" pitchFamily="34" charset="0"/>
                <a:ea typeface="Inter" pitchFamily="34" charset="-122"/>
                <a:cs typeface="Inter" pitchFamily="34" charset="-120"/>
              </a:rPr>
              <a:t>for 360 layouts: 720 wave solves over two speech bands</a:t>
            </a:r>
            <a:endParaRPr lang="en-US" sz="1600" dirty="0"/>
          </a:p>
        </p:txBody>
      </p:sp>
      <p:sp>
        <p:nvSpPr>
          <p:cNvPr id="10" name="Shape 8"/>
          <p:cNvSpPr/>
          <p:nvPr/>
        </p:nvSpPr>
        <p:spPr>
          <a:xfrm>
            <a:off x="7995669" y="1938604"/>
            <a:ext cx="3380316" cy="2169800"/>
          </a:xfrm>
          <a:prstGeom prst="roundRect">
            <a:avLst>
              <a:gd name="adj" fmla="val 4536"/>
            </a:avLst>
          </a:prstGeom>
          <a:solidFill>
            <a:srgbClr val="2A2842"/>
          </a:solidFill>
          <a:ln w="6350">
            <a:solidFill>
              <a:srgbClr val="45426A"/>
            </a:solidFill>
            <a:prstDash val="solid"/>
          </a:ln>
        </p:spPr>
      </p:sp>
      <p:sp>
        <p:nvSpPr>
          <p:cNvPr id="11" name="Text 9"/>
          <p:cNvSpPr/>
          <p:nvPr/>
        </p:nvSpPr>
        <p:spPr>
          <a:xfrm>
            <a:off x="8252542" y="2195475"/>
            <a:ext cx="2952568"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A897F5"/>
                </a:solidFill>
                <a:latin typeface="Inter" pitchFamily="34" charset="0"/>
                <a:ea typeface="Inter" pitchFamily="34" charset="-122"/>
                <a:cs typeface="Inter" pitchFamily="34" charset="-120"/>
              </a:rPr>
              <a:t>24 s</a:t>
            </a:r>
            <a:endParaRPr lang="en-US" sz="6000" dirty="0"/>
          </a:p>
        </p:txBody>
      </p:sp>
      <p:sp>
        <p:nvSpPr>
          <p:cNvPr id="12" name="Text 10"/>
          <p:cNvSpPr/>
          <p:nvPr/>
        </p:nvSpPr>
        <p:spPr>
          <a:xfrm>
            <a:off x="8252542" y="3059057"/>
            <a:ext cx="2952568" cy="817874"/>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4F5FA"/>
                </a:solidFill>
                <a:latin typeface="Inter" pitchFamily="34" charset="0"/>
                <a:ea typeface="Inter" pitchFamily="34" charset="-122"/>
                <a:cs typeface="Inter" pitchFamily="34" charset="-120"/>
              </a:rPr>
              <a:t>for 803 layouts when the room's meshes are used again</a:t>
            </a:r>
            <a:endParaRPr lang="en-US" sz="1600" dirty="0"/>
          </a:p>
        </p:txBody>
      </p:sp>
      <p:sp>
        <p:nvSpPr>
          <p:cNvPr id="13" name="Text 11"/>
          <p:cNvSpPr/>
          <p:nvPr/>
        </p:nvSpPr>
        <p:spPr>
          <a:xfrm>
            <a:off x="812790" y="4416369"/>
            <a:ext cx="9810748" cy="594349"/>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9BCD3"/>
                </a:solidFill>
                <a:latin typeface="Inter" pitchFamily="34" charset="0"/>
                <a:ea typeface="Inter" pitchFamily="34" charset="-122"/>
                <a:cs typeface="Inter" pitchFamily="34" charset="-120"/>
              </a:rPr>
              <a:t>Panel positions are project variables in the Allsolve Python SDK. One project describes every layout, and the pressures at each listening point come back as numbers in Python.</a:t>
            </a:r>
            <a:endParaRPr lang="en-US" sz="1600" dirty="0"/>
          </a:p>
        </p:txBody>
      </p:sp>
      <p:sp>
        <p:nvSpPr>
          <p:cNvPr id="14" name="Text 12"/>
          <p:cNvSpPr/>
          <p:nvPr/>
        </p:nvSpPr>
        <p:spPr>
          <a:xfrm>
            <a:off x="812790" y="6238261"/>
            <a:ext cx="10883361" cy="2387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9BCD3"/>
                </a:solidFill>
                <a:latin typeface="Inter" pitchFamily="34" charset="0"/>
                <a:ea typeface="Inter" pitchFamily="34" charset="-122"/>
                <a:cs typeface="Inter" pitchFamily="34" charset="-120"/>
              </a:rPr>
              <a:t>Timings measured in this project on the 2D model of a 16 × 10 m office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D1B2F"/>
        </a:solidFill>
      </p:bgPr>
    </p:bg>
    <p:spTree>
      <p:nvGrpSpPr>
        <p:cNvPr id="1" name=""/>
        <p:cNvGrpSpPr/>
        <p:nvPr/>
      </p:nvGrpSpPr>
      <p:grpSpPr>
        <a:xfrm>
          <a:off x="0" y="0"/>
          <a:ext cx="0" cy="0"/>
          <a:chOff x="0" y="0"/>
          <a:chExt cx="0" cy="0"/>
        </a:xfrm>
      </p:grpSpPr>
      <p:sp>
        <p:nvSpPr>
          <p:cNvPr id="2" name="Text 0"/>
          <p:cNvSpPr/>
          <p:nvPr/>
        </p:nvSpPr>
        <p:spPr>
          <a:xfrm>
            <a:off x="812790" y="812788"/>
            <a:ext cx="10883410" cy="23876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A897F5"/>
                </a:solidFill>
                <a:latin typeface="Inter" pitchFamily="34" charset="0"/>
                <a:ea typeface="Inter" pitchFamily="34" charset="-122"/>
                <a:cs typeface="Inter" pitchFamily="34" charset="-120"/>
              </a:rPr>
              <a:t>WHILE IT RUNS</a:t>
            </a:r>
            <a:endParaRPr lang="en-US" sz="1200" dirty="0"/>
          </a:p>
        </p:txBody>
      </p:sp>
      <p:sp>
        <p:nvSpPr>
          <p:cNvPr id="3" name="Text 1"/>
          <p:cNvSpPr/>
          <p:nvPr>
            <p:ph type="title"/>
          </p:nvPr>
        </p:nvSpPr>
        <p:spPr>
          <a:xfrm>
            <a:off x="812790" y="1127739"/>
            <a:ext cx="10883410" cy="528297"/>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F4F5FA"/>
                </a:solidFill>
                <a:latin typeface="Inter" pitchFamily="34" charset="0"/>
                <a:ea typeface="Inter" pitchFamily="34" charset="-122"/>
                <a:cs typeface="Inter" pitchFamily="34" charset="-120"/>
              </a:rPr>
              <a:t>One click, 36 machines in the </a:t>
            </a:r>
            <a:r>
              <a:rPr lang="en-US" sz="3600" b="1" i="0" spc="-50" kern="0" dirty="0">
                <a:solidFill>
                  <a:srgbClr val="F4F5FA"/>
                </a:solidFill>
                <a:latin typeface="Inter" pitchFamily="34" charset="0"/>
                <a:ea typeface="Inter" pitchFamily="34" charset="-122"/>
                <a:cs typeface="Inter" pitchFamily="34" charset="-120"/>
              </a:rPr>
              <a:t>cloud</a:t>
            </a:r>
            <a:endParaRPr lang="en-US" sz="3600" dirty="0"/>
          </a:p>
        </p:txBody>
      </p:sp>
      <p:sp>
        <p:nvSpPr>
          <p:cNvPr id="4" name="Shape 2"/>
          <p:cNvSpPr/>
          <p:nvPr/>
        </p:nvSpPr>
        <p:spPr>
          <a:xfrm>
            <a:off x="812790" y="1935429"/>
            <a:ext cx="6032499" cy="3771871"/>
          </a:xfrm>
          <a:prstGeom prst="roundRect">
            <a:avLst>
              <a:gd name="adj" fmla="val 2694"/>
            </a:avLst>
          </a:prstGeom>
          <a:solidFill>
            <a:srgbClr val="F4F5FA"/>
          </a:solidFill>
          <a:ln/>
        </p:spPr>
      </p:sp>
      <p:pic>
        <p:nvPicPr>
          <p:cNvPr id="5" name="Image 0" descr="Allquiet during a search on the scanned office: the 3D scan on the left, and on the right the progress panel reading On Allsolve now, 36 machines running at the same time, simulation panel 2 of 3 running at 50 percent">    </p:cNvPr>
          <p:cNvPicPr>
            <a:picLocks noChangeAspect="1"/>
          </p:cNvPicPr>
          <p:nvPr/>
        </p:nvPicPr>
        <p:blipFill>
          <a:blip r:embed="rId1"/>
          <a:srcRect l="0" r="0" t="-20" b="-20"/>
          <a:stretch/>
        </p:blipFill>
        <p:spPr>
          <a:xfrm>
            <a:off x="819140" y="1941779"/>
            <a:ext cx="6019799" cy="3759171"/>
          </a:xfrm>
          <a:prstGeom prst="roundRect">
            <a:avLst>
              <a:gd name="adj" fmla="val 2534"/>
            </a:avLst>
          </a:prstGeom>
        </p:spPr>
      </p:pic>
      <p:sp>
        <p:nvSpPr>
          <p:cNvPr id="6" name="Shape 3"/>
          <p:cNvSpPr/>
          <p:nvPr/>
        </p:nvSpPr>
        <p:spPr>
          <a:xfrm>
            <a:off x="815965" y="1938604"/>
            <a:ext cx="6026149" cy="3765521"/>
          </a:xfrm>
          <a:prstGeom prst="roundRect">
            <a:avLst>
              <a:gd name="adj" fmla="val 2614"/>
            </a:avLst>
          </a:prstGeom>
          <a:noFill/>
          <a:ln w="6350">
            <a:solidFill>
              <a:srgbClr val="45426A"/>
            </a:solidFill>
            <a:prstDash val="solid"/>
          </a:ln>
        </p:spPr>
      </p:sp>
      <p:sp>
        <p:nvSpPr>
          <p:cNvPr id="7" name="Text 4"/>
          <p:cNvSpPr/>
          <p:nvPr/>
        </p:nvSpPr>
        <p:spPr>
          <a:xfrm>
            <a:off x="7251661" y="1935429"/>
            <a:ext cx="4251373" cy="787400"/>
          </a:xfrm>
          <a:prstGeom prst="rect">
            <a:avLst/>
          </a:prstGeom>
          <a:noFill/>
          <a:ln/>
        </p:spPr>
        <p:txBody>
          <a:bodyPr wrap="square" lIns="0" tIns="0" rIns="0" bIns="0" rtlCol="0" anchor="t">
            <a:normAutofit/>
          </a:bodyPr>
          <a:lstStyle/>
          <a:p>
            <a:pPr algn="l" indent="0" marL="0">
              <a:lnSpc>
                <a:spcPts val="6000"/>
              </a:lnSpc>
              <a:buNone/>
            </a:pPr>
            <a:r>
              <a:rPr lang="en-US" sz="6000" b="1" spc="-150" kern="0" dirty="0">
                <a:solidFill>
                  <a:srgbClr val="A897F5"/>
                </a:solidFill>
                <a:latin typeface="Inter" pitchFamily="34" charset="0"/>
                <a:ea typeface="Inter" pitchFamily="34" charset="-122"/>
                <a:cs typeface="Inter" pitchFamily="34" charset="-120"/>
              </a:rPr>
              <a:t>36</a:t>
            </a:r>
            <a:endParaRPr lang="en-US" sz="6000" dirty="0"/>
          </a:p>
        </p:txBody>
      </p:sp>
      <p:sp>
        <p:nvSpPr>
          <p:cNvPr id="8" name="Text 5"/>
          <p:cNvSpPr/>
          <p:nvPr/>
        </p:nvSpPr>
        <p:spPr>
          <a:xfrm>
            <a:off x="7251661" y="2824429"/>
            <a:ext cx="4251373" cy="553716"/>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F4F5FA"/>
                </a:solidFill>
                <a:latin typeface="Inter" pitchFamily="34" charset="0"/>
                <a:ea typeface="Inter" pitchFamily="34" charset="-122"/>
                <a:cs typeface="Inter" pitchFamily="34" charset="-120"/>
              </a:rPr>
              <a:t>Allsolve machines solving one round of layouts at the same time</a:t>
            </a:r>
            <a:endParaRPr lang="en-US" sz="1600" dirty="0"/>
          </a:p>
        </p:txBody>
      </p:sp>
      <p:pic>
        <p:nvPicPr>
          <p:cNvPr id="9" name="Image 1" descr="line">    </p:cNvPr>
          <p:cNvPicPr>
            <a:picLocks noChangeAspect="1"/>
          </p:cNvPicPr>
          <p:nvPr/>
        </p:nvPicPr>
        <p:blipFill>
          <a:blip r:embed="rId2"/>
          <a:srcRect l="0" r="0" t="0" b="0"/>
          <a:stretch/>
        </p:blipFill>
        <p:spPr>
          <a:xfrm>
            <a:off x="7251661" y="3479744"/>
            <a:ext cx="4127499" cy="6350"/>
          </a:xfrm>
          <a:prstGeom prst="rect">
            <a:avLst/>
          </a:prstGeom>
        </p:spPr>
      </p:pic>
      <p:sp>
        <p:nvSpPr>
          <p:cNvPr id="10" name="Text 6"/>
          <p:cNvSpPr/>
          <p:nvPr/>
        </p:nvSpPr>
        <p:spPr>
          <a:xfrm>
            <a:off x="7251661" y="3613076"/>
            <a:ext cx="4251373" cy="817874"/>
          </a:xfrm>
          <a:prstGeom prst="rect">
            <a:avLst/>
          </a:prstGeom>
          <a:noFill/>
          <a:ln/>
        </p:spPr>
        <p:txBody>
          <a:bodyPr wrap="square" lIns="0" tIns="0" rIns="0" bIns="0" rtlCol="0" anchor="t">
            <a:normAutofit/>
          </a:bodyPr>
          <a:lstStyle/>
          <a:p>
            <a:pPr algn="l" indent="0" marL="0">
              <a:lnSpc>
                <a:spcPts val="2080"/>
              </a:lnSpc>
              <a:buNone/>
            </a:pPr>
            <a:r>
              <a:rPr lang="en-US" sz="1600" dirty="0">
                <a:solidFill>
                  <a:srgbClr val="B9BCD3"/>
                </a:solidFill>
                <a:latin typeface="Inter" pitchFamily="34" charset="0"/>
                <a:ea typeface="Inter" pitchFamily="34" charset="-122"/>
                <a:cs typeface="Inter" pitchFamily="34" charset="-120"/>
              </a:rPr>
              <a:t>The app reads status and counts from Allsolve and links to the project, so every number can be traced.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812790" y="812788"/>
            <a:ext cx="10883410" cy="23876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3FD3"/>
                </a:solidFill>
                <a:latin typeface="Inter" pitchFamily="34" charset="0"/>
                <a:ea typeface="Inter" pitchFamily="34" charset="-122"/>
                <a:cs typeface="Inter" pitchFamily="34" charset="-120"/>
              </a:rPr>
              <a:t>THE ALTERNATIVES</a:t>
            </a:r>
            <a:endParaRPr lang="en-US" sz="1200" dirty="0"/>
          </a:p>
        </p:txBody>
      </p:sp>
      <p:sp>
        <p:nvSpPr>
          <p:cNvPr id="3" name="Text 1"/>
          <p:cNvSpPr/>
          <p:nvPr>
            <p:ph type="title"/>
          </p:nvPr>
        </p:nvSpPr>
        <p:spPr>
          <a:xfrm>
            <a:off x="812790" y="1127739"/>
            <a:ext cx="10883410" cy="528297"/>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1D1B2F"/>
                </a:solidFill>
                <a:latin typeface="Inter" pitchFamily="34" charset="0"/>
                <a:ea typeface="Inter" pitchFamily="34" charset="-122"/>
                <a:cs typeface="Inter" pitchFamily="34" charset="-120"/>
              </a:rPr>
              <a:t>Why not a </a:t>
            </a:r>
            <a:r>
              <a:rPr lang="en-US" sz="3600" b="1" i="0" spc="-50" kern="0" dirty="0">
                <a:solidFill>
                  <a:srgbClr val="1D1B2F"/>
                </a:solidFill>
                <a:latin typeface="Inter" pitchFamily="34" charset="0"/>
                <a:ea typeface="Inter" pitchFamily="34" charset="-122"/>
                <a:cs typeface="Inter" pitchFamily="34" charset="-120"/>
              </a:rPr>
              <a:t>simpler</a:t>
            </a:r>
            <a:r>
              <a:rPr lang="en-US" sz="3600" b="0" i="0" spc="-50" kern="0" dirty="0">
                <a:solidFill>
                  <a:srgbClr val="1D1B2F"/>
                </a:solidFill>
                <a:latin typeface="Inter" pitchFamily="34" charset="0"/>
                <a:ea typeface="Inter" pitchFamily="34" charset="-122"/>
                <a:cs typeface="Inter" pitchFamily="34" charset="-120"/>
              </a:rPr>
              <a:t> tool</a:t>
            </a:r>
            <a:endParaRPr lang="en-US" sz="3600" dirty="0"/>
          </a:p>
        </p:txBody>
      </p:sp>
      <p:sp>
        <p:nvSpPr>
          <p:cNvPr id="4" name="Shape 2"/>
          <p:cNvSpPr/>
          <p:nvPr/>
        </p:nvSpPr>
        <p:spPr>
          <a:xfrm>
            <a:off x="812790" y="1935423"/>
            <a:ext cx="10566417" cy="2742406"/>
          </a:xfrm>
          <a:prstGeom prst="roundRect">
            <a:avLst>
              <a:gd name="adj" fmla="val 3705"/>
            </a:avLst>
          </a:prstGeom>
          <a:solidFill>
            <a:srgbClr val="FFFFFF"/>
          </a:solidFill>
          <a:ln/>
        </p:spPr>
      </p:sp>
      <p:sp>
        <p:nvSpPr>
          <p:cNvPr id="5" name="Shape 3"/>
          <p:cNvSpPr/>
          <p:nvPr/>
        </p:nvSpPr>
        <p:spPr>
          <a:xfrm>
            <a:off x="812790" y="1935423"/>
            <a:ext cx="10566417" cy="2742406"/>
          </a:xfrm>
          <a:custGeom>
            <a:avLst/>
            <a:gdLst/>
            <a:ahLst/>
            <a:cxnLst/>
            <a:rect l="l" t="t" r="r" b="b"/>
            <a:pathLst>
              <a:path w="10566417" h="2742406">
                <a:moveTo>
                  <a:pt x="10464817" y="0"/>
                </a:moveTo>
                <a:lnTo>
                  <a:pt x="10464817" y="0"/>
                </a:lnTo>
                <a:arcTo hR="101600" wR="101600" stAng="16200000" swAng="5400000"/>
                <a:lnTo>
                  <a:pt x="10566417" y="2640806"/>
                </a:lnTo>
                <a:arcTo hR="101600" wR="101600" stAng="0" swAng="5400000"/>
                <a:lnTo>
                  <a:pt x="101600" y="2742406"/>
                </a:lnTo>
                <a:arcTo hR="101600" wR="101600" stAng="5400000" swAng="5400000"/>
                <a:lnTo>
                  <a:pt x="0" y="2640806"/>
                </a:lnTo>
                <a:arcTo hR="95250" wR="101600" stAng="10800000" swAng="-5400000"/>
                <a:lnTo>
                  <a:pt x="10464817" y="2736056"/>
                </a:lnTo>
                <a:arcTo hR="95250" wR="95250" stAng="5400000" swAng="-5400000"/>
                <a:lnTo>
                  <a:pt x="10560067" y="101600"/>
                </a:lnTo>
                <a:arcTo hR="101600" wR="95250" stAng="0" swAng="-5400000"/>
                <a:close/>
              </a:path>
            </a:pathLst>
          </a:custGeom>
          <a:solidFill>
            <a:srgbClr val="DFE2EC"/>
          </a:solidFill>
          <a:ln/>
        </p:spPr>
      </p:sp>
      <p:sp>
        <p:nvSpPr>
          <p:cNvPr id="6" name="Shape 4"/>
          <p:cNvSpPr/>
          <p:nvPr/>
        </p:nvSpPr>
        <p:spPr>
          <a:xfrm>
            <a:off x="812790" y="1935423"/>
            <a:ext cx="10566417" cy="2742406"/>
          </a:xfrm>
          <a:custGeom>
            <a:avLst/>
            <a:gdLst/>
            <a:ahLst/>
            <a:cxnLst/>
            <a:rect l="l" t="t" r="r" b="b"/>
            <a:pathLst>
              <a:path w="10566417" h="2742406">
                <a:moveTo>
                  <a:pt x="101600" y="2742406"/>
                </a:moveTo>
                <a:lnTo>
                  <a:pt x="101600" y="2742406"/>
                </a:lnTo>
                <a:arcTo hR="101600" wR="101600" stAng="5400000" swAng="5400000"/>
                <a:lnTo>
                  <a:pt x="0" y="101600"/>
                </a:lnTo>
                <a:arcTo hR="101600" wR="101600" stAng="10800000" swAng="5400000"/>
                <a:lnTo>
                  <a:pt x="10464817" y="0"/>
                </a:lnTo>
                <a:arcTo hR="101600" wR="101600" stAng="16200000" swAng="5400000"/>
                <a:lnTo>
                  <a:pt x="10566417" y="101600"/>
                </a:lnTo>
                <a:arcTo hR="89505" wR="101600" stAng="0" swAng="-5400000"/>
                <a:lnTo>
                  <a:pt x="101600" y="12095"/>
                </a:lnTo>
                <a:arcTo hR="89505" wR="89505" stAng="16200000" swAng="-5400000"/>
                <a:lnTo>
                  <a:pt x="12095" y="2640806"/>
                </a:lnTo>
                <a:arcTo hR="101600" wR="89505" stAng="10800000" swAng="-5400000"/>
                <a:close/>
              </a:path>
            </a:pathLst>
          </a:custGeom>
          <a:solidFill>
            <a:srgbClr val="141413">
              <a:alpha val="22000"/>
            </a:srgbClr>
          </a:solidFill>
          <a:ln/>
        </p:spPr>
      </p:sp>
      <p:sp>
        <p:nvSpPr>
          <p:cNvPr id="7" name="Shape 5"/>
          <p:cNvSpPr/>
          <p:nvPr/>
        </p:nvSpPr>
        <p:spPr>
          <a:xfrm>
            <a:off x="824886" y="1947518"/>
            <a:ext cx="10548274" cy="454044"/>
          </a:xfrm>
          <a:custGeom>
            <a:avLst/>
            <a:gdLst/>
            <a:ahLst/>
            <a:cxnLst/>
            <a:rect l="l" t="t" r="r" b="b"/>
            <a:pathLst>
              <a:path w="10548274" h="454044">
                <a:moveTo>
                  <a:pt x="0" y="89505"/>
                </a:moveTo>
                <a:arcTo hR="89505" wR="89505" stAng="10800000" swAng="5400000"/>
                <a:lnTo>
                  <a:pt x="10452722" y="0"/>
                </a:lnTo>
                <a:arcTo hR="95552" wR="95552" stAng="16200000" swAng="5400000"/>
                <a:lnTo>
                  <a:pt x="10548274" y="454044"/>
                </a:lnTo>
                <a:lnTo>
                  <a:pt x="0" y="454044"/>
                </a:lnTo>
                <a:close/>
              </a:path>
            </a:pathLst>
          </a:custGeom>
          <a:solidFill>
            <a:srgbClr val="ECECEC"/>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4886" y="1947518"/>
          <a:ext cx="10548274" cy="2724263"/>
        </p:xfrm>
        <a:graphic>
          <a:graphicData uri="http://schemas.openxmlformats.org/drawingml/2006/table">
            <a:tbl>
              <a:tblPr/>
              <a:tblGrid>
                <a:gridCol w="2531586"/>
                <a:gridCol w="3164482"/>
                <a:gridCol w="4852206"/>
              </a:tblGrid>
              <a:tr h="454044">
                <a:tc>
                  <a:txBody>
                    <a:bodyPr/>
                    <a:lstStyle/>
                    <a:p>
                      <a:pPr indent="0" marL="0">
                        <a:lnSpc>
                          <a:spcPts val="1680"/>
                        </a:lnSpc>
                        <a:buNone/>
                      </a:pPr>
                      <a:r>
                        <a:rPr lang="en-US" sz="1200" b="1" dirty="0">
                          <a:solidFill>
                            <a:srgbClr val="646880"/>
                          </a:solidFill>
                          <a:latin typeface="Inter" pitchFamily="34" charset="0"/>
                          <a:ea typeface="Inter" pitchFamily="34" charset="-122"/>
                          <a:cs typeface="Inter" pitchFamily="34" charset="-120"/>
                        </a:rPr>
                        <a:t>Approach</a:t>
                      </a:r>
                      <a:endParaRPr lang="en-US" sz="1200" dirty="0">
                        <a:latin typeface="Inter" charset="0"/>
                        <a:ea typeface="Inter" charset="0"/>
                        <a:cs typeface="Inter" charset="0"/>
                      </a:endParaRPr>
                    </a:p>
                  </a:txBody>
                  <a:tcPr marL="177800" marR="177800" marT="114300" marB="114300" anchor="t">
                    <a:lnL w="0" cap="flat" cmpd="sng" algn="ctr">
                      <a:noFill/>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indent="0" marL="0">
                        <a:lnSpc>
                          <a:spcPts val="1680"/>
                        </a:lnSpc>
                        <a:buNone/>
                      </a:pPr>
                      <a:r>
                        <a:rPr lang="en-US" sz="1200" b="1" dirty="0">
                          <a:solidFill>
                            <a:srgbClr val="646880"/>
                          </a:solidFill>
                          <a:latin typeface="Inter" pitchFamily="34" charset="0"/>
                          <a:ea typeface="Inter" pitchFamily="34" charset="-122"/>
                          <a:cs typeface="Inter" pitchFamily="34" charset="-120"/>
                        </a:rPr>
                        <a:t>Good at</a:t>
                      </a:r>
                      <a:endParaRPr lang="en-US" sz="1200" dirty="0">
                        <a:latin typeface="Inter" charset="0"/>
                        <a:ea typeface="Inter" charset="0"/>
                        <a:cs typeface="Inter" charset="0"/>
                      </a:endParaRPr>
                    </a:p>
                  </a:txBody>
                  <a:tcPr marL="177800" marR="177800" marT="114300" marB="1143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c>
                  <a:txBody>
                    <a:bodyPr/>
                    <a:lstStyle/>
                    <a:p>
                      <a:pPr indent="0" marL="0">
                        <a:lnSpc>
                          <a:spcPts val="1680"/>
                        </a:lnSpc>
                        <a:buNone/>
                      </a:pPr>
                      <a:r>
                        <a:rPr lang="en-US" sz="1200" b="1" dirty="0">
                          <a:solidFill>
                            <a:srgbClr val="646880"/>
                          </a:solidFill>
                          <a:latin typeface="Inter" pitchFamily="34" charset="0"/>
                          <a:ea typeface="Inter" pitchFamily="34" charset="-122"/>
                          <a:cs typeface="Inter" pitchFamily="34" charset="-120"/>
                        </a:rPr>
                        <a:t>Where it falls short for placement</a:t>
                      </a:r>
                      <a:endParaRPr lang="en-US" sz="1200" dirty="0">
                        <a:latin typeface="Inter" charset="0"/>
                        <a:ea typeface="Inter" charset="0"/>
                        <a:cs typeface="Inter" charset="0"/>
                      </a:endParaRPr>
                    </a:p>
                  </a:txBody>
                  <a:tcPr marL="177800" marR="177800" marT="114300" marB="114300" anchor="t">
                    <a:lnL w="12700" cap="flat" cmpd="sng" algn="ctr">
                      <a:solidFill>
                        <a:srgbClr val="BCBCBC"/>
                      </a:solidFill>
                      <a:prstDash val="solid"/>
                      <a:round/>
                      <a:headEnd type="none" w="med" len="med"/>
                      <a:tailEnd type="none" w="med" len="med"/>
                    </a:lnL>
                    <a:lnR w="12700" cap="flat" cmpd="sng" algn="ctr">
                      <a:solidFill>
                        <a:srgbClr val="BCBCBC"/>
                      </a:solidFill>
                      <a:prstDash val="solid"/>
                      <a:round/>
                      <a:headEnd type="none" w="med" len="med"/>
                      <a:tailEnd type="none" w="med" len="med"/>
                    </a:lnR>
                    <a:lnT w="0" cap="flat" cmpd="sng" algn="ctr">
                      <a:noFill/>
                    </a:lnT>
                    <a:lnB w="12700" cap="flat" cmpd="sng" algn="ctr">
                      <a:solidFill>
                        <a:srgbClr val="BCBCBC"/>
                      </a:solidFill>
                      <a:prstDash val="solid"/>
                      <a:round/>
                      <a:headEnd type="none" w="med" len="med"/>
                      <a:tailEnd type="none" w="med" len="med"/>
                    </a:lnB>
                  </a:tcPr>
                </a:tc>
              </a:tr>
              <a:tr h="454044">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Rules of thumb</a:t>
                      </a:r>
                      <a:endParaRPr lang="en-US" sz="1200" dirty="0">
                        <a:latin typeface="Inter" charset="0"/>
                        <a:ea typeface="Inter" charset="0"/>
                        <a:cs typeface="Inter" charset="0"/>
                      </a:endParaRPr>
                    </a:p>
                  </a:txBody>
                  <a:tcPr marL="177800" marR="177800" marT="114300" marB="1143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Rating an existing office</a:t>
                      </a:r>
                      <a:endParaRPr lang="en-US" sz="1200" dirty="0">
                        <a:latin typeface="Inter" charset="0"/>
                        <a:ea typeface="Inter" charset="0"/>
                        <a:cs typeface="Inter" charset="0"/>
                      </a:endParaRPr>
                    </a:p>
                  </a:txBody>
                  <a:tcPr marL="177800" marR="1778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They describe a result and cannot predict a layout</a:t>
                      </a:r>
                      <a:endParaRPr lang="en-US" sz="1200" dirty="0">
                        <a:latin typeface="Inter" charset="0"/>
                        <a:ea typeface="Inter" charset="0"/>
                        <a:cs typeface="Inter" charset="0"/>
                      </a:endParaRPr>
                    </a:p>
                  </a:txBody>
                  <a:tcPr marL="177800" marR="1778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CBCBC"/>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54044">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Barrier formulas</a:t>
                      </a:r>
                      <a:endParaRPr lang="en-US" sz="1200" dirty="0">
                        <a:latin typeface="Inter" charset="0"/>
                        <a:ea typeface="Inter" charset="0"/>
                        <a:cs typeface="Inter" charset="0"/>
                      </a:endParaRPr>
                    </a:p>
                  </a:txBody>
                  <a:tcPr marL="177800" marR="177800" marT="114300" marB="1143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Instant, runs in a browser</a:t>
                      </a:r>
                      <a:endParaRPr lang="en-US" sz="1200" dirty="0">
                        <a:latin typeface="Inter" charset="0"/>
                        <a:ea typeface="Inter" charset="0"/>
                        <a:cs typeface="Inter" charset="0"/>
                      </a:endParaRPr>
                    </a:p>
                  </a:txBody>
                  <a:tcPr marL="177800" marR="1778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One screen in open space: no interference, no room</a:t>
                      </a:r>
                      <a:endParaRPr lang="en-US" sz="1200" dirty="0">
                        <a:latin typeface="Inter" charset="0"/>
                        <a:ea typeface="Inter" charset="0"/>
                        <a:cs typeface="Inter" charset="0"/>
                      </a:endParaRPr>
                    </a:p>
                  </a:txBody>
                  <a:tcPr marL="177800" marR="1778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54044">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Ray tracing</a:t>
                      </a:r>
                      <a:endParaRPr lang="en-US" sz="1200" dirty="0">
                        <a:latin typeface="Inter" charset="0"/>
                        <a:ea typeface="Inter" charset="0"/>
                        <a:cs typeface="Inter" charset="0"/>
                      </a:endParaRPr>
                    </a:p>
                  </a:txBody>
                  <a:tcPr marL="177800" marR="177800" marT="114300" marB="1143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Large rooms, high frequencies</a:t>
                      </a:r>
                      <a:endParaRPr lang="en-US" sz="1200" dirty="0">
                        <a:latin typeface="Inter" charset="0"/>
                        <a:ea typeface="Inter" charset="0"/>
                        <a:cs typeface="Inter" charset="0"/>
                      </a:endParaRPr>
                    </a:p>
                  </a:txBody>
                  <a:tcPr marL="177800" marR="1778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Weak at bending around screens one wavelength wide</a:t>
                      </a:r>
                      <a:endParaRPr lang="en-US" sz="1200" dirty="0">
                        <a:latin typeface="Inter" charset="0"/>
                        <a:ea typeface="Inter" charset="0"/>
                        <a:cs typeface="Inter" charset="0"/>
                      </a:endParaRPr>
                    </a:p>
                  </a:txBody>
                  <a:tcPr marL="177800" marR="1778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54044">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Desktop FEM</a:t>
                      </a:r>
                      <a:endParaRPr lang="en-US" sz="1200" dirty="0">
                        <a:latin typeface="Inter" charset="0"/>
                        <a:ea typeface="Inter" charset="0"/>
                        <a:cs typeface="Inter" charset="0"/>
                      </a:endParaRPr>
                    </a:p>
                  </a:txBody>
                  <a:tcPr marL="177800" marR="177800" marT="114300" marB="114300" anchor="t">
                    <a:lnL w="0" cap="flat" cmpd="sng" algn="ctr">
                      <a:noFill/>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The same wave physics</a:t>
                      </a:r>
                      <a:endParaRPr lang="en-US" sz="1200" dirty="0">
                        <a:latin typeface="Inter" charset="0"/>
                        <a:ea typeface="Inter" charset="0"/>
                        <a:cs typeface="Inter" charset="0"/>
                      </a:endParaRPr>
                    </a:p>
                  </a:txBody>
                  <a:tcPr marL="177800" marR="1778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A licence and workstation per user, hard to script 200 runs</a:t>
                      </a:r>
                      <a:endParaRPr lang="en-US" sz="1200" dirty="0">
                        <a:latin typeface="Inter" charset="0"/>
                        <a:ea typeface="Inter" charset="0"/>
                        <a:cs typeface="Inter" charset="0"/>
                      </a:endParaRPr>
                    </a:p>
                  </a:txBody>
                  <a:tcPr marL="177800" marR="177800" marT="114300" marB="1143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454044">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Allsolve + SDK</a:t>
                      </a:r>
                      <a:endParaRPr lang="en-US" sz="1200" dirty="0">
                        <a:latin typeface="Inter" charset="0"/>
                        <a:ea typeface="Inter" charset="0"/>
                        <a:cs typeface="Inter" charset="0"/>
                      </a:endParaRPr>
                    </a:p>
                  </a:txBody>
                  <a:tcPr marL="177800" marR="177800" marT="114300" marB="114300" anchor="t">
                    <a:lnL w="0" cap="flat" cmpd="sng" algn="ctr">
                      <a:noFill/>
                    </a:lnL>
                    <a:lnR w="12700" cap="flat" cmpd="sng" algn="ctr">
                      <a:solidFill>
                        <a:srgbClr val="BCB9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C8"/>
                      </a:solidFill>
                      <a:prstDash val="solid"/>
                      <a:round/>
                      <a:headEnd type="none" w="med" len="med"/>
                      <a:tailEnd type="none" w="med" len="med"/>
                    </a:lnB>
                    <a:solidFill>
                      <a:srgbClr val="ECE8FB"/>
                    </a:solidFill>
                  </a:tcPr>
                </a:tc>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Wave physics in the cloud</a:t>
                      </a:r>
                      <a:endParaRPr lang="en-US" sz="1200" dirty="0">
                        <a:latin typeface="Inter" charset="0"/>
                        <a:ea typeface="Inter" charset="0"/>
                        <a:cs typeface="Inter" charset="0"/>
                      </a:endParaRPr>
                    </a:p>
                  </a:txBody>
                  <a:tcPr marL="177800" marR="177800" marT="114300" marB="114300" anchor="t">
                    <a:lnL w="12700" cap="flat" cmpd="sng" algn="ctr">
                      <a:solidFill>
                        <a:srgbClr val="BCB9C8"/>
                      </a:solidFill>
                      <a:prstDash val="solid"/>
                      <a:round/>
                      <a:headEnd type="none" w="med" len="med"/>
                      <a:tailEnd type="none" w="med" len="med"/>
                    </a:lnL>
                    <a:lnR w="12700" cap="flat" cmpd="sng" algn="ctr">
                      <a:solidFill>
                        <a:srgbClr val="BCB9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C8"/>
                      </a:solidFill>
                      <a:prstDash val="solid"/>
                      <a:round/>
                      <a:headEnd type="none" w="med" len="med"/>
                      <a:tailEnd type="none" w="med" len="med"/>
                    </a:lnB>
                    <a:solidFill>
                      <a:srgbClr val="ECE8FB"/>
                    </a:solidFill>
                  </a:tcPr>
                </a:tc>
                <a:tc>
                  <a:txBody>
                    <a:bodyPr/>
                    <a:lstStyle/>
                    <a:p>
                      <a:pPr indent="0" marL="0">
                        <a:lnSpc>
                          <a:spcPts val="1680"/>
                        </a:lnSpc>
                        <a:buNone/>
                      </a:pPr>
                      <a:r>
                        <a:rPr lang="en-US" sz="1200" dirty="0">
                          <a:solidFill>
                            <a:srgbClr val="1D1B2F"/>
                          </a:solidFill>
                          <a:latin typeface="Inter" pitchFamily="34" charset="0"/>
                          <a:ea typeface="Inter" pitchFamily="34" charset="-122"/>
                          <a:cs typeface="Inter" pitchFamily="34" charset="-120"/>
                        </a:rPr>
                        <a:t>Minutes, not milliseconds: we show an estimate first</a:t>
                      </a:r>
                      <a:endParaRPr lang="en-US" sz="1200" dirty="0">
                        <a:latin typeface="Inter" charset="0"/>
                        <a:ea typeface="Inter" charset="0"/>
                        <a:cs typeface="Inter" charset="0"/>
                      </a:endParaRPr>
                    </a:p>
                  </a:txBody>
                  <a:tcPr marL="177800" marR="177800" marT="114300" marB="114300" anchor="t">
                    <a:lnL w="12700" cap="flat" cmpd="sng" algn="ctr">
                      <a:solidFill>
                        <a:srgbClr val="BCB9C8"/>
                      </a:solidFill>
                      <a:prstDash val="solid"/>
                      <a:round/>
                      <a:headEnd type="none" w="med" len="med"/>
                      <a:tailEnd type="none" w="med" len="med"/>
                    </a:lnL>
                    <a:lnR w="12700" cap="flat" cmpd="sng" algn="ctr">
                      <a:solidFill>
                        <a:srgbClr val="BCB9C8"/>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BCB9C8"/>
                      </a:solidFill>
                      <a:prstDash val="solid"/>
                      <a:round/>
                      <a:headEnd type="none" w="med" len="med"/>
                      <a:tailEnd type="none" w="med" len="med"/>
                    </a:lnB>
                    <a:solidFill>
                      <a:srgbClr val="ECE8FB"/>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A"/>
        </a:solidFill>
      </p:bgPr>
    </p:bg>
    <p:spTree>
      <p:nvGrpSpPr>
        <p:cNvPr id="1" name=""/>
        <p:cNvGrpSpPr/>
        <p:nvPr/>
      </p:nvGrpSpPr>
      <p:grpSpPr>
        <a:xfrm>
          <a:off x="0" y="0"/>
          <a:ext cx="0" cy="0"/>
          <a:chOff x="0" y="0"/>
          <a:chExt cx="0" cy="0"/>
        </a:xfrm>
      </p:grpSpPr>
      <p:sp>
        <p:nvSpPr>
          <p:cNvPr id="2" name="Text 0"/>
          <p:cNvSpPr/>
          <p:nvPr/>
        </p:nvSpPr>
        <p:spPr>
          <a:xfrm>
            <a:off x="812790" y="812788"/>
            <a:ext cx="10883410" cy="238768"/>
          </a:xfrm>
          <a:prstGeom prst="rect">
            <a:avLst/>
          </a:prstGeom>
          <a:noFill/>
          <a:ln/>
        </p:spPr>
        <p:txBody>
          <a:bodyPr wrap="square" lIns="0" tIns="0" rIns="0" bIns="0" rtlCol="0" anchor="t">
            <a:normAutofit/>
          </a:bodyPr>
          <a:lstStyle/>
          <a:p>
            <a:pPr algn="l" indent="0" marL="0">
              <a:lnSpc>
                <a:spcPts val="1680"/>
              </a:lnSpc>
              <a:buNone/>
            </a:pPr>
            <a:r>
              <a:rPr lang="en-US" sz="1200" b="1" spc="100" kern="0" dirty="0">
                <a:solidFill>
                  <a:srgbClr val="5B3FD3"/>
                </a:solidFill>
                <a:latin typeface="Inter" pitchFamily="34" charset="0"/>
                <a:ea typeface="Inter" pitchFamily="34" charset="-122"/>
                <a:cs typeface="Inter" pitchFamily="34" charset="-120"/>
              </a:rPr>
              <a:t>WHERE WE ARE</a:t>
            </a:r>
            <a:endParaRPr lang="en-US" sz="1200" dirty="0"/>
          </a:p>
        </p:txBody>
      </p:sp>
      <p:sp>
        <p:nvSpPr>
          <p:cNvPr id="3" name="Text 1"/>
          <p:cNvSpPr/>
          <p:nvPr>
            <p:ph type="title"/>
          </p:nvPr>
        </p:nvSpPr>
        <p:spPr>
          <a:xfrm>
            <a:off x="812790" y="1127739"/>
            <a:ext cx="10883410" cy="528297"/>
          </a:xfrm>
          <a:prstGeom prst="rect">
            <a:avLst/>
          </a:prstGeom>
          <a:noFill/>
          <a:ln/>
        </p:spPr>
        <p:txBody>
          <a:bodyPr wrap="square" lIns="0" tIns="0" rIns="0" bIns="0" rtlCol="0" anchor="t">
            <a:normAutofit/>
          </a:bodyPr>
          <a:lstStyle/>
          <a:p>
            <a:pPr algn="l" indent="0" marL="0">
              <a:lnSpc>
                <a:spcPts val="3960"/>
              </a:lnSpc>
              <a:buNone/>
            </a:pPr>
            <a:r>
              <a:rPr lang="en-US" sz="3600" b="0" i="0" spc="-50" kern="0" dirty="0">
                <a:solidFill>
                  <a:srgbClr val="1D1B2F"/>
                </a:solidFill>
                <a:latin typeface="Inter" pitchFamily="34" charset="0"/>
                <a:ea typeface="Inter" pitchFamily="34" charset="-122"/>
                <a:cs typeface="Inter" pitchFamily="34" charset="-120"/>
              </a:rPr>
              <a:t>Honest limits, clear </a:t>
            </a:r>
            <a:r>
              <a:rPr lang="en-US" sz="3600" b="1" i="0" spc="-50" kern="0" dirty="0">
                <a:solidFill>
                  <a:srgbClr val="1D1B2F"/>
                </a:solidFill>
                <a:latin typeface="Inter" pitchFamily="34" charset="0"/>
                <a:ea typeface="Inter" pitchFamily="34" charset="-122"/>
                <a:cs typeface="Inter" pitchFamily="34" charset="-120"/>
              </a:rPr>
              <a:t>next steps</a:t>
            </a:r>
            <a:endParaRPr lang="en-US" sz="3600" dirty="0"/>
          </a:p>
        </p:txBody>
      </p:sp>
      <p:sp>
        <p:nvSpPr>
          <p:cNvPr id="4" name="Shape 2"/>
          <p:cNvSpPr/>
          <p:nvPr/>
        </p:nvSpPr>
        <p:spPr>
          <a:xfrm>
            <a:off x="815965" y="1938598"/>
            <a:ext cx="5175278" cy="2555856"/>
          </a:xfrm>
          <a:prstGeom prst="roundRect">
            <a:avLst>
              <a:gd name="adj" fmla="val 3851"/>
            </a:avLst>
          </a:prstGeom>
          <a:solidFill>
            <a:srgbClr val="FFFFFF"/>
          </a:solidFill>
          <a:ln w="6350">
            <a:solidFill>
              <a:srgbClr val="DFE2EC"/>
            </a:solidFill>
            <a:prstDash val="solid"/>
          </a:ln>
        </p:spPr>
      </p:sp>
      <p:sp>
        <p:nvSpPr>
          <p:cNvPr id="5" name="Text 3"/>
          <p:cNvSpPr/>
          <p:nvPr/>
        </p:nvSpPr>
        <p:spPr>
          <a:xfrm>
            <a:off x="1072838" y="2195469"/>
            <a:ext cx="4801378" cy="26924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1B2F"/>
                </a:solidFill>
                <a:latin typeface="Inter" pitchFamily="34" charset="0"/>
                <a:ea typeface="Inter" pitchFamily="34" charset="-122"/>
                <a:cs typeface="Inter" pitchFamily="34" charset="-120"/>
              </a:rPr>
              <a:t>What the number means today</a:t>
            </a:r>
            <a:endParaRPr lang="en-US" sz="1600" dirty="0"/>
          </a:p>
        </p:txBody>
      </p:sp>
      <p:sp>
        <p:nvSpPr>
          <p:cNvPr id="6" name="Text 4"/>
          <p:cNvSpPr/>
          <p:nvPr/>
        </p:nvSpPr>
        <p:spPr>
          <a:xfrm>
            <a:off x="1143196" y="2591687"/>
            <a:ext cx="4723400" cy="1671297"/>
          </a:xfrm>
          <a:prstGeom prst="rect">
            <a:avLst/>
          </a:prstGeom>
          <a:noFill/>
          <a:ln/>
        </p:spPr>
        <p:txBody>
          <a:bodyPr wrap="square" lIns="0" tIns="0" rIns="0" bIns="0" rtlCol="0" anchor="t">
            <a:normAutofit/>
          </a:bodyPr>
          <a:lstStyle/>
          <a:p>
            <a:pPr algn="l" marL="183642" indent="-183642">
              <a:lnSpc>
                <a:spcPts val="2160"/>
              </a:lnSpc>
              <a:buSzPct val="100000"/>
              <a:buChar char="•"/>
            </a:pPr>
            <a:r>
              <a:rPr lang="en-US" sz="1600" dirty="0">
                <a:solidFill>
                  <a:srgbClr val="1D1B2F"/>
                </a:solidFill>
                <a:latin typeface="Inter" pitchFamily="34" charset="0"/>
                <a:ea typeface="Inter" pitchFamily="34" charset="-122"/>
                <a:cs typeface="Inter" pitchFamily="34" charset="-120"/>
              </a:rPr>
              <a:t>It ranks layouts in a simplified model. It is not a certified dB reduction.</a:t>
            </a:r>
            <a:endParaRPr lang="en-US" sz="1600" dirty="0"/>
          </a:p>
          <a:p>
            <a:pPr algn="l" marL="183642" indent="-183642">
              <a:lnSpc>
                <a:spcPts val="2160"/>
              </a:lnSpc>
              <a:buSzPct val="100000"/>
              <a:buChar char="•"/>
            </a:pPr>
            <a:r>
              <a:rPr lang="en-US" sz="1600" dirty="0">
                <a:solidFill>
                  <a:srgbClr val="1D1B2F"/>
                </a:solidFill>
                <a:latin typeface="Inter" pitchFamily="34" charset="0"/>
                <a:ea typeface="Inter" pitchFamily="34" charset="-122"/>
                <a:cs typeface="Inter" pitchFamily="34" charset="-120"/>
              </a:rPr>
              <a:t>It covers the low and middle speech bands, where bending decides the outcome.</a:t>
            </a:r>
            <a:endParaRPr lang="en-US" sz="1600" dirty="0"/>
          </a:p>
          <a:p>
            <a:pPr algn="l" marL="183642" indent="-183642">
              <a:lnSpc>
                <a:spcPts val="2160"/>
              </a:lnSpc>
              <a:buSzPct val="100000"/>
              <a:buChar char="•"/>
            </a:pPr>
            <a:r>
              <a:rPr lang="en-US" sz="1600" dirty="0">
                <a:solidFill>
                  <a:srgbClr val="1D1B2F"/>
                </a:solidFill>
                <a:latin typeface="Inter" pitchFamily="34" charset="0"/>
                <a:ea typeface="Inter" pitchFamily="34" charset="-122"/>
                <a:cs typeface="Inter" pitchFamily="34" charset="-120"/>
              </a:rPr>
              <a:t>The full 3D room works and costs more: two layouts took about five minutes.</a:t>
            </a:r>
            <a:endParaRPr lang="en-US" sz="1600" dirty="0"/>
          </a:p>
        </p:txBody>
      </p:sp>
      <p:sp>
        <p:nvSpPr>
          <p:cNvPr id="7" name="Shape 5"/>
          <p:cNvSpPr/>
          <p:nvPr/>
        </p:nvSpPr>
        <p:spPr>
          <a:xfrm>
            <a:off x="6200755" y="1938598"/>
            <a:ext cx="5175278" cy="2555856"/>
          </a:xfrm>
          <a:prstGeom prst="roundRect">
            <a:avLst>
              <a:gd name="adj" fmla="val 3851"/>
            </a:avLst>
          </a:prstGeom>
          <a:solidFill>
            <a:srgbClr val="FFFFFF"/>
          </a:solidFill>
          <a:ln w="6350">
            <a:solidFill>
              <a:srgbClr val="DFE2EC"/>
            </a:solidFill>
            <a:prstDash val="solid"/>
          </a:ln>
        </p:spPr>
      </p:sp>
      <p:sp>
        <p:nvSpPr>
          <p:cNvPr id="8" name="Text 6"/>
          <p:cNvSpPr/>
          <p:nvPr/>
        </p:nvSpPr>
        <p:spPr>
          <a:xfrm>
            <a:off x="6457628" y="2195469"/>
            <a:ext cx="4801378" cy="269242"/>
          </a:xfrm>
          <a:prstGeom prst="rect">
            <a:avLst/>
          </a:prstGeom>
          <a:noFill/>
          <a:ln/>
        </p:spPr>
        <p:txBody>
          <a:bodyPr wrap="square" lIns="0" tIns="0" rIns="0" bIns="0" rtlCol="0" anchor="t">
            <a:normAutofit/>
          </a:bodyPr>
          <a:lstStyle/>
          <a:p>
            <a:pPr algn="l" indent="0" marL="0">
              <a:lnSpc>
                <a:spcPts val="1920"/>
              </a:lnSpc>
              <a:buNone/>
            </a:pPr>
            <a:r>
              <a:rPr lang="en-US" sz="1600" b="1" dirty="0">
                <a:solidFill>
                  <a:srgbClr val="1D1B2F"/>
                </a:solidFill>
                <a:latin typeface="Inter" pitchFamily="34" charset="0"/>
                <a:ea typeface="Inter" pitchFamily="34" charset="-122"/>
                <a:cs typeface="Inter" pitchFamily="34" charset="-120"/>
              </a:rPr>
              <a:t>What comes next</a:t>
            </a:r>
            <a:endParaRPr lang="en-US" sz="1600" dirty="0"/>
          </a:p>
        </p:txBody>
      </p:sp>
      <p:sp>
        <p:nvSpPr>
          <p:cNvPr id="9" name="Text 7"/>
          <p:cNvSpPr/>
          <p:nvPr/>
        </p:nvSpPr>
        <p:spPr>
          <a:xfrm>
            <a:off x="6527986" y="2591687"/>
            <a:ext cx="4723400" cy="1671297"/>
          </a:xfrm>
          <a:prstGeom prst="rect">
            <a:avLst/>
          </a:prstGeom>
          <a:noFill/>
          <a:ln/>
        </p:spPr>
        <p:txBody>
          <a:bodyPr wrap="square" lIns="0" tIns="0" rIns="0" bIns="0" rtlCol="0" anchor="t">
            <a:normAutofit/>
          </a:bodyPr>
          <a:lstStyle/>
          <a:p>
            <a:pPr algn="l" marL="183642" indent="-183642">
              <a:lnSpc>
                <a:spcPts val="2160"/>
              </a:lnSpc>
              <a:buSzPct val="100000"/>
              <a:buChar char="•"/>
            </a:pPr>
            <a:r>
              <a:rPr lang="en-US" sz="1600" dirty="0">
                <a:solidFill>
                  <a:srgbClr val="1D1B2F"/>
                </a:solidFill>
                <a:latin typeface="Inter" pitchFamily="34" charset="0"/>
                <a:ea typeface="Inter" pitchFamily="34" charset="-122"/>
                <a:cs typeface="Inter" pitchFamily="34" charset="-120"/>
              </a:rPr>
              <a:t>Show the solver's own pressure field as the sound map.</a:t>
            </a:r>
            <a:endParaRPr lang="en-US" sz="1600" dirty="0"/>
          </a:p>
          <a:p>
            <a:pPr algn="l" marL="183642" indent="-183642">
              <a:lnSpc>
                <a:spcPts val="2160"/>
              </a:lnSpc>
              <a:buSzPct val="100000"/>
              <a:buChar char="•"/>
            </a:pPr>
            <a:r>
              <a:rPr lang="en-US" sz="1600" dirty="0">
                <a:solidFill>
                  <a:srgbClr val="1D1B2F"/>
                </a:solidFill>
                <a:latin typeface="Inter" pitchFamily="34" charset="0"/>
                <a:ea typeface="Inter" pitchFamily="34" charset="-122"/>
                <a:cs typeface="Inter" pitchFamily="34" charset="-120"/>
              </a:rPr>
              <a:t>Absorbing panels and wall materials, not only blocking ones.</a:t>
            </a:r>
            <a:endParaRPr lang="en-US" sz="1600" dirty="0"/>
          </a:p>
          <a:p>
            <a:pPr algn="l" marL="183642" indent="-183642">
              <a:lnSpc>
                <a:spcPts val="2160"/>
              </a:lnSpc>
              <a:buSzPct val="100000"/>
              <a:buChar char="•"/>
            </a:pPr>
            <a:r>
              <a:rPr lang="en-US" sz="1600" dirty="0">
                <a:solidFill>
                  <a:srgbClr val="1D1B2F"/>
                </a:solidFill>
                <a:latin typeface="Inter" pitchFamily="34" charset="0"/>
                <a:ea typeface="Inter" pitchFamily="34" charset="-122"/>
                <a:cs typeface="Inter" pitchFamily="34" charset="-120"/>
              </a:rPr>
              <a:t>Real floor plans through CAD import.</a:t>
            </a:r>
            <a:endParaRPr lang="en-US" sz="1600" dirty="0"/>
          </a:p>
          <a:p>
            <a:pPr algn="l" marL="183642" indent="-183642">
              <a:lnSpc>
                <a:spcPts val="2160"/>
              </a:lnSpc>
              <a:buSzPct val="100000"/>
              <a:buChar char="•"/>
            </a:pPr>
            <a:r>
              <a:rPr lang="en-US" sz="1600" dirty="0">
                <a:solidFill>
                  <a:srgbClr val="1D1B2F"/>
                </a:solidFill>
                <a:latin typeface="Inter" pitchFamily="34" charset="0"/>
                <a:ea typeface="Inter" pitchFamily="34" charset="-122"/>
                <a:cs typeface="Inter" pitchFamily="34" charset="-120"/>
              </a:rPr>
              <a:t>A budget in euros in place of a panel count.</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5B3FD3"/>
        </a:solidFill>
      </p:bgPr>
    </p:bg>
    <p:spTree>
      <p:nvGrpSpPr>
        <p:cNvPr id="1" name=""/>
        <p:cNvGrpSpPr/>
        <p:nvPr/>
      </p:nvGrpSpPr>
      <p:grpSpPr>
        <a:xfrm>
          <a:off x="0" y="0"/>
          <a:ext cx="0" cy="0"/>
          <a:chOff x="0" y="0"/>
          <a:chExt cx="0" cy="0"/>
        </a:xfrm>
      </p:grpSpPr>
      <p:pic>
        <p:nvPicPr>
          <p:cNvPr id="2" name="Image 0" descr="Allquiet logo">    </p:cNvPr>
          <p:cNvPicPr>
            <a:picLocks noChangeAspect="1"/>
          </p:cNvPicPr>
          <p:nvPr/>
        </p:nvPicPr>
        <p:blipFill>
          <a:blip r:embed="rId1"/>
          <a:srcRect l="0" r="0" t="0" b="0"/>
          <a:stretch/>
        </p:blipFill>
        <p:spPr>
          <a:xfrm>
            <a:off x="812790" y="1797044"/>
            <a:ext cx="609581" cy="609581"/>
          </a:xfrm>
          <a:prstGeom prst="rect">
            <a:avLst/>
          </a:prstGeom>
        </p:spPr>
      </p:pic>
      <p:sp>
        <p:nvSpPr>
          <p:cNvPr id="3" name="Text 0"/>
          <p:cNvSpPr/>
          <p:nvPr>
            <p:ph type="title"/>
          </p:nvPr>
        </p:nvSpPr>
        <p:spPr>
          <a:xfrm>
            <a:off x="812790" y="2711413"/>
            <a:ext cx="9810748" cy="825481"/>
          </a:xfrm>
          <a:prstGeom prst="rect">
            <a:avLst/>
          </a:prstGeom>
          <a:noFill/>
          <a:ln/>
        </p:spPr>
        <p:txBody>
          <a:bodyPr wrap="square" lIns="0" tIns="0" rIns="0" bIns="0" rtlCol="0" anchor="t">
            <a:normAutofit/>
          </a:bodyPr>
          <a:lstStyle/>
          <a:p>
            <a:pPr algn="l" indent="0" marL="0">
              <a:lnSpc>
                <a:spcPts val="6300"/>
              </a:lnSpc>
              <a:buNone/>
            </a:pPr>
            <a:r>
              <a:rPr lang="en-US" sz="6000" b="0" i="0" spc="-150" kern="0" dirty="0">
                <a:solidFill>
                  <a:srgbClr val="FFFFFF"/>
                </a:solidFill>
                <a:latin typeface="Inter" pitchFamily="34" charset="0"/>
                <a:ea typeface="Inter" pitchFamily="34" charset="-122"/>
                <a:cs typeface="Inter" pitchFamily="34" charset="-120"/>
              </a:rPr>
              <a:t>Quiet is a </a:t>
            </a:r>
            <a:r>
              <a:rPr lang="en-US" sz="6000" b="1" i="0" spc="-150" kern="0" dirty="0">
                <a:solidFill>
                  <a:srgbClr val="FFFFFF"/>
                </a:solidFill>
                <a:latin typeface="Inter" pitchFamily="34" charset="0"/>
                <a:ea typeface="Inter" pitchFamily="34" charset="-122"/>
                <a:cs typeface="Inter" pitchFamily="34" charset="-120"/>
              </a:rPr>
              <a:t>health measure</a:t>
            </a:r>
            <a:r>
              <a:rPr lang="en-US" sz="6000" b="0" i="0" spc="-150" kern="0" dirty="0">
                <a:solidFill>
                  <a:srgbClr val="FFFFFF"/>
                </a:solidFill>
                <a:latin typeface="Inter" pitchFamily="34" charset="0"/>
                <a:ea typeface="Inter" pitchFamily="34" charset="-122"/>
                <a:cs typeface="Inter" pitchFamily="34" charset="-120"/>
              </a:rPr>
              <a:t>.</a:t>
            </a:r>
            <a:endParaRPr lang="en-US" sz="6000" dirty="0"/>
          </a:p>
        </p:txBody>
      </p:sp>
      <p:sp>
        <p:nvSpPr>
          <p:cNvPr id="4" name="Text 1"/>
          <p:cNvSpPr/>
          <p:nvPr/>
        </p:nvSpPr>
        <p:spPr>
          <a:xfrm>
            <a:off x="812790" y="3816288"/>
            <a:ext cx="9156698" cy="751870"/>
          </a:xfrm>
          <a:prstGeom prst="rect">
            <a:avLst/>
          </a:prstGeom>
          <a:noFill/>
          <a:ln/>
        </p:spPr>
        <p:txBody>
          <a:bodyPr wrap="square" lIns="0" tIns="0" rIns="0" bIns="0" rtlCol="0" anchor="t">
            <a:normAutofit/>
          </a:bodyPr>
          <a:lstStyle/>
          <a:p>
            <a:pPr algn="l" indent="0" marL="0">
              <a:lnSpc>
                <a:spcPts val="2860"/>
              </a:lnSpc>
              <a:buNone/>
            </a:pPr>
            <a:r>
              <a:rPr lang="en-US" sz="2200" dirty="0">
                <a:solidFill>
                  <a:srgbClr val="FFFFFF"/>
                </a:solidFill>
                <a:latin typeface="Inter" pitchFamily="34" charset="0"/>
                <a:ea typeface="Inter" pitchFamily="34" charset="-122"/>
                <a:cs typeface="Inter" pitchFamily="34" charset="-120"/>
              </a:rPr>
              <a:t>Allquiet puts acoustic treatment where physics says it matters. Simulated on Quanscient Allsolve.</a:t>
            </a:r>
            <a:endParaRPr lang="en-US" sz="2200" dirty="0"/>
          </a:p>
        </p:txBody>
      </p:sp>
      <p:sp>
        <p:nvSpPr>
          <p:cNvPr id="5" name="Text 2"/>
          <p:cNvSpPr/>
          <p:nvPr/>
        </p:nvSpPr>
        <p:spPr>
          <a:xfrm>
            <a:off x="812790" y="4847543"/>
            <a:ext cx="10883410" cy="238768"/>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4DEFA"/>
                </a:solidFill>
                <a:latin typeface="Inter" pitchFamily="34" charset="0"/>
                <a:ea typeface="Inter" pitchFamily="34" charset="-122"/>
                <a:cs typeface="Inter" pitchFamily="34" charset="-120"/>
              </a:rPr>
              <a:t>Veli Lampila · Santeri Hukari · Arman Borujerdi</a:t>
            </a:r>
            <a:endParaRPr lang="en-US" sz="1200" dirty="0"/>
          </a:p>
        </p:txBody>
      </p:sp>
    </p:spTree>
  </p:cSld>
  <p:clrMapOvr>
    <a:masterClrMapping/>
  </p:clrMapOvr>
</p:sld>
</file>

<file path=ppt/theme/theme1.xml><?xml version="1.0" encoding="utf-8"?>
<a:theme xmlns:a="http://schemas.openxmlformats.org/drawingml/2006/main" name="Allquiet Pitch">
  <a:themeElements>
    <a:clrScheme name="Allquiet Pitch">
      <a:dk1>
        <a:srgbClr val="1D1B2F"/>
      </a:dk1>
      <a:lt1>
        <a:srgbClr val="F4F5FA"/>
      </a:lt1>
      <a:dk2>
        <a:srgbClr val="535262"/>
      </a:dk2>
      <a:lt2>
        <a:srgbClr val="DFDFE6"/>
      </a:lt2>
      <a:accent1>
        <a:srgbClr val="5B3FD3"/>
      </a:accent1>
      <a:accent2>
        <a:srgbClr val="A897F5"/>
      </a:accent2>
      <a:accent3>
        <a:srgbClr val="C13A5C"/>
      </a:accent3>
      <a:accent4>
        <a:srgbClr val="2A7A5F"/>
      </a:accent4>
      <a:accent5>
        <a:srgbClr val="646880"/>
      </a:accent5>
      <a:accent6>
        <a:srgbClr val="B9BCD3"/>
      </a:accent6>
      <a:hlink>
        <a:srgbClr val="0563C1"/>
      </a:hlink>
      <a:folHlink>
        <a:srgbClr val="954F72"/>
      </a:folHlink>
    </a:clrScheme>
    <a:fontScheme name="Allquiet Pitch">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Allquiet Pitch</dc:title>
  <dc:subject/>
  <dc:creator/>
  <cp:lastModifiedBy/>
  <cp:revision>1</cp:revision>
  <dcterms:created xsi:type="dcterms:W3CDTF">2026-10-03T14:42:48Z</dcterms:created>
  <dcterms:modified xsi:type="dcterms:W3CDTF">2026-10-03T14:42:48Z</dcterms:modified>
</cp:coreProperties>
</file>